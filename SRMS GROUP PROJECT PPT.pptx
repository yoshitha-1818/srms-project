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Helvetica World" panose="020B0604020202020204" charset="-128"/>
      <p:regular r:id="rId16"/>
    </p:embeddedFont>
    <p:embeddedFont>
      <p:font typeface="Helvetica World Bold" panose="020B0604020202020204" charset="-128"/>
      <p:regular r:id="rId17"/>
    </p:embeddedFont>
    <p:embeddedFont>
      <p:font typeface="Archivo Black" panose="020B0604020202020204" charset="0"/>
      <p:regular r:id="rId18"/>
    </p:embeddedFont>
    <p:embeddedFont>
      <p:font typeface="Georgia Pro Condense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874"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7.jpe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7.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grpSp>
        <p:nvGrpSpPr>
          <p:cNvPr id="2" name="Group 2"/>
          <p:cNvGrpSpPr/>
          <p:nvPr/>
        </p:nvGrpSpPr>
        <p:grpSpPr>
          <a:xfrm>
            <a:off x="-73835" y="-86535"/>
            <a:ext cx="11349070" cy="10447370"/>
            <a:chOff x="0" y="0"/>
            <a:chExt cx="15132094" cy="13929827"/>
          </a:xfrm>
        </p:grpSpPr>
        <p:sp>
          <p:nvSpPr>
            <p:cNvPr id="3" name="Freeform 3"/>
            <p:cNvSpPr/>
            <p:nvPr/>
          </p:nvSpPr>
          <p:spPr>
            <a:xfrm>
              <a:off x="8509" y="8509"/>
              <a:ext cx="14935201" cy="13732891"/>
            </a:xfrm>
            <a:custGeom>
              <a:avLst/>
              <a:gdLst/>
              <a:ahLst/>
              <a:cxnLst/>
              <a:rect l="l" t="t" r="r" b="b"/>
              <a:pathLst>
                <a:path w="14935201" h="13732891">
                  <a:moveTo>
                    <a:pt x="0" y="0"/>
                  </a:moveTo>
                  <a:lnTo>
                    <a:pt x="14935201" y="0"/>
                  </a:lnTo>
                  <a:lnTo>
                    <a:pt x="14935201" y="13732891"/>
                  </a:lnTo>
                  <a:lnTo>
                    <a:pt x="0" y="13732891"/>
                  </a:lnTo>
                  <a:close/>
                </a:path>
              </a:pathLst>
            </a:custGeom>
            <a:solidFill>
              <a:srgbClr val="200934"/>
            </a:solidFill>
            <a:ln w="12700">
              <a:solidFill>
                <a:srgbClr val="000000"/>
              </a:solidFill>
            </a:ln>
          </p:spPr>
        </p:sp>
        <p:sp>
          <p:nvSpPr>
            <p:cNvPr id="4" name="Freeform 4"/>
            <p:cNvSpPr/>
            <p:nvPr/>
          </p:nvSpPr>
          <p:spPr>
            <a:xfrm>
              <a:off x="0" y="0"/>
              <a:ext cx="14952218" cy="13749910"/>
            </a:xfrm>
            <a:custGeom>
              <a:avLst/>
              <a:gdLst/>
              <a:ahLst/>
              <a:cxnLst/>
              <a:rect l="l" t="t" r="r" b="b"/>
              <a:pathLst>
                <a:path w="14952218" h="13749910">
                  <a:moveTo>
                    <a:pt x="8509" y="0"/>
                  </a:moveTo>
                  <a:lnTo>
                    <a:pt x="14943710" y="0"/>
                  </a:lnTo>
                  <a:cubicBezTo>
                    <a:pt x="14948408" y="0"/>
                    <a:pt x="14952218" y="3810"/>
                    <a:pt x="14952218" y="8509"/>
                  </a:cubicBezTo>
                  <a:lnTo>
                    <a:pt x="14952218" y="13741400"/>
                  </a:lnTo>
                  <a:cubicBezTo>
                    <a:pt x="14952218" y="13746099"/>
                    <a:pt x="14948408" y="13749910"/>
                    <a:pt x="14943710" y="13749910"/>
                  </a:cubicBezTo>
                  <a:lnTo>
                    <a:pt x="8509" y="13749910"/>
                  </a:lnTo>
                  <a:cubicBezTo>
                    <a:pt x="3810" y="13749910"/>
                    <a:pt x="0" y="13746099"/>
                    <a:pt x="0" y="13741400"/>
                  </a:cubicBezTo>
                  <a:lnTo>
                    <a:pt x="0" y="8509"/>
                  </a:lnTo>
                  <a:cubicBezTo>
                    <a:pt x="0" y="3810"/>
                    <a:pt x="3810" y="0"/>
                    <a:pt x="8509" y="0"/>
                  </a:cubicBezTo>
                  <a:moveTo>
                    <a:pt x="8509" y="16891"/>
                  </a:moveTo>
                  <a:lnTo>
                    <a:pt x="8509" y="8509"/>
                  </a:lnTo>
                  <a:lnTo>
                    <a:pt x="17018" y="8509"/>
                  </a:lnTo>
                  <a:lnTo>
                    <a:pt x="17018" y="13741400"/>
                  </a:lnTo>
                  <a:lnTo>
                    <a:pt x="8509" y="13741400"/>
                  </a:lnTo>
                  <a:lnTo>
                    <a:pt x="8509" y="13732890"/>
                  </a:lnTo>
                  <a:lnTo>
                    <a:pt x="14943710" y="13732890"/>
                  </a:lnTo>
                  <a:lnTo>
                    <a:pt x="14943710" y="13741400"/>
                  </a:lnTo>
                  <a:lnTo>
                    <a:pt x="14935200" y="13741400"/>
                  </a:lnTo>
                  <a:lnTo>
                    <a:pt x="14935200" y="8509"/>
                  </a:lnTo>
                  <a:lnTo>
                    <a:pt x="14943710" y="8509"/>
                  </a:lnTo>
                  <a:lnTo>
                    <a:pt x="14943710" y="17018"/>
                  </a:lnTo>
                  <a:lnTo>
                    <a:pt x="8509" y="17018"/>
                  </a:lnTo>
                  <a:close/>
                </a:path>
              </a:pathLst>
            </a:custGeom>
            <a:solidFill>
              <a:srgbClr val="000000"/>
            </a:solidFill>
            <a:ln w="12700">
              <a:solidFill>
                <a:srgbClr val="000000"/>
              </a:solidFill>
            </a:ln>
          </p:spPr>
        </p:sp>
      </p:grpSp>
      <p:sp>
        <p:nvSpPr>
          <p:cNvPr id="5" name="TextBox 5"/>
          <p:cNvSpPr txBox="1"/>
          <p:nvPr/>
        </p:nvSpPr>
        <p:spPr>
          <a:xfrm>
            <a:off x="675380" y="1175093"/>
            <a:ext cx="9754495" cy="6525221"/>
          </a:xfrm>
          <a:prstGeom prst="rect">
            <a:avLst/>
          </a:prstGeom>
        </p:spPr>
        <p:txBody>
          <a:bodyPr lIns="0" tIns="0" rIns="0" bIns="0" rtlCol="0" anchor="t">
            <a:spAutoFit/>
          </a:bodyPr>
          <a:lstStyle/>
          <a:p>
            <a:pPr algn="l">
              <a:lnSpc>
                <a:spcPts val="13148"/>
              </a:lnSpc>
            </a:pPr>
            <a:r>
              <a:rPr lang="en-US" sz="13147" spc="-459">
                <a:solidFill>
                  <a:srgbClr val="D1E7E9"/>
                </a:solidFill>
                <a:latin typeface="Georgia Pro Condensed"/>
                <a:ea typeface="Georgia Pro Condensed"/>
                <a:cs typeface="Georgia Pro Condensed"/>
                <a:sym typeface="Georgia Pro Condensed"/>
              </a:rPr>
              <a:t>SRMS: Student Record Management System</a:t>
            </a:r>
          </a:p>
        </p:txBody>
      </p:sp>
      <p:grpSp>
        <p:nvGrpSpPr>
          <p:cNvPr id="6" name="Group 6"/>
          <p:cNvGrpSpPr/>
          <p:nvPr/>
        </p:nvGrpSpPr>
        <p:grpSpPr>
          <a:xfrm>
            <a:off x="11201400" y="0"/>
            <a:ext cx="7223132" cy="10616857"/>
            <a:chOff x="0" y="0"/>
            <a:chExt cx="9630843" cy="14155809"/>
          </a:xfrm>
        </p:grpSpPr>
        <p:sp>
          <p:nvSpPr>
            <p:cNvPr id="7" name="Freeform 7"/>
            <p:cNvSpPr/>
            <p:nvPr/>
          </p:nvSpPr>
          <p:spPr>
            <a:xfrm>
              <a:off x="0" y="0"/>
              <a:ext cx="9630791" cy="14155801"/>
            </a:xfrm>
            <a:custGeom>
              <a:avLst/>
              <a:gdLst/>
              <a:ahLst/>
              <a:cxnLst/>
              <a:rect l="l" t="t" r="r" b="b"/>
              <a:pathLst>
                <a:path w="9630791" h="14155801">
                  <a:moveTo>
                    <a:pt x="0" y="0"/>
                  </a:moveTo>
                  <a:lnTo>
                    <a:pt x="9630791" y="0"/>
                  </a:lnTo>
                  <a:lnTo>
                    <a:pt x="9630791" y="14155801"/>
                  </a:lnTo>
                  <a:lnTo>
                    <a:pt x="0" y="14155801"/>
                  </a:lnTo>
                  <a:lnTo>
                    <a:pt x="0" y="0"/>
                  </a:lnTo>
                  <a:close/>
                </a:path>
              </a:pathLst>
            </a:custGeom>
            <a:blipFill>
              <a:blip r:embed="rId2"/>
              <a:stretch>
                <a:fillRect/>
              </a:stretch>
            </a:blipFill>
          </p:spPr>
        </p:sp>
      </p:grpSp>
      <p:sp>
        <p:nvSpPr>
          <p:cNvPr id="8" name="TextBox 8"/>
          <p:cNvSpPr txBox="1"/>
          <p:nvPr/>
        </p:nvSpPr>
        <p:spPr>
          <a:xfrm>
            <a:off x="666750" y="8973185"/>
            <a:ext cx="6886575" cy="647065"/>
          </a:xfrm>
          <a:prstGeom prst="rect">
            <a:avLst/>
          </a:prstGeom>
        </p:spPr>
        <p:txBody>
          <a:bodyPr lIns="0" tIns="0" rIns="0" bIns="0" rtlCol="0" anchor="t">
            <a:spAutoFit/>
          </a:bodyPr>
          <a:lstStyle/>
          <a:p>
            <a:pPr algn="l">
              <a:lnSpc>
                <a:spcPts val="4939"/>
              </a:lnSpc>
            </a:pPr>
            <a:r>
              <a:rPr lang="en-US" sz="3800" spc="-56">
                <a:solidFill>
                  <a:srgbClr val="D1E7E9"/>
                </a:solidFill>
                <a:latin typeface="Helvetica World"/>
                <a:ea typeface="Helvetica World"/>
                <a:cs typeface="Helvetica World"/>
                <a:sym typeface="Helvetica World"/>
              </a:rPr>
              <a:t>SRM University-AP</a:t>
            </a:r>
          </a:p>
        </p:txBody>
      </p:sp>
      <p:grpSp>
        <p:nvGrpSpPr>
          <p:cNvPr id="9" name="Group 9"/>
          <p:cNvGrpSpPr/>
          <p:nvPr/>
        </p:nvGrpSpPr>
        <p:grpSpPr>
          <a:xfrm>
            <a:off x="17059864" y="8321301"/>
            <a:ext cx="334691" cy="342758"/>
            <a:chOff x="0" y="0"/>
            <a:chExt cx="446255" cy="457011"/>
          </a:xfrm>
        </p:grpSpPr>
        <p:sp>
          <p:nvSpPr>
            <p:cNvPr id="10" name="Freeform 10"/>
            <p:cNvSpPr/>
            <p:nvPr/>
          </p:nvSpPr>
          <p:spPr>
            <a:xfrm>
              <a:off x="24" y="-33"/>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00934">
                <a:alpha val="5882"/>
              </a:srgbClr>
            </a:solidFill>
            <a:ln w="12700">
              <a:solidFill>
                <a:srgbClr val="000000"/>
              </a:solidFill>
            </a:ln>
          </p:spPr>
        </p:sp>
      </p:grpSp>
      <p:grpSp>
        <p:nvGrpSpPr>
          <p:cNvPr id="11" name="Group 11"/>
          <p:cNvGrpSpPr/>
          <p:nvPr/>
        </p:nvGrpSpPr>
        <p:grpSpPr>
          <a:xfrm>
            <a:off x="17059864" y="8321301"/>
            <a:ext cx="334691" cy="342758"/>
            <a:chOff x="0" y="0"/>
            <a:chExt cx="446255" cy="457011"/>
          </a:xfrm>
        </p:grpSpPr>
        <p:sp>
          <p:nvSpPr>
            <p:cNvPr id="12" name="Freeform 12"/>
            <p:cNvSpPr/>
            <p:nvPr/>
          </p:nvSpPr>
          <p:spPr>
            <a:xfrm>
              <a:off x="24" y="-33"/>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00934">
                <a:alpha val="5882"/>
              </a:srgbClr>
            </a:solidFill>
            <a:ln w="12700">
              <a:solidFill>
                <a:srgbClr val="000000"/>
              </a:solidFill>
            </a:ln>
          </p:spPr>
        </p:sp>
      </p:grpSp>
      <p:grpSp>
        <p:nvGrpSpPr>
          <p:cNvPr id="13" name="Group 13"/>
          <p:cNvGrpSpPr/>
          <p:nvPr/>
        </p:nvGrpSpPr>
        <p:grpSpPr>
          <a:xfrm>
            <a:off x="17059864" y="8321301"/>
            <a:ext cx="334691" cy="342758"/>
            <a:chOff x="0" y="0"/>
            <a:chExt cx="446255" cy="457011"/>
          </a:xfrm>
        </p:grpSpPr>
        <p:sp>
          <p:nvSpPr>
            <p:cNvPr id="14" name="Freeform 14"/>
            <p:cNvSpPr/>
            <p:nvPr/>
          </p:nvSpPr>
          <p:spPr>
            <a:xfrm>
              <a:off x="24" y="-33"/>
              <a:ext cx="446254" cy="457010"/>
            </a:xfrm>
            <a:custGeom>
              <a:avLst/>
              <a:gdLst/>
              <a:ahLst/>
              <a:cxnLst/>
              <a:rect l="l" t="t" r="r" b="b"/>
              <a:pathLst>
                <a:path w="446254" h="457010">
                  <a:moveTo>
                    <a:pt x="446254" y="160942"/>
                  </a:moveTo>
                  <a:cubicBezTo>
                    <a:pt x="446254" y="304452"/>
                    <a:pt x="429744" y="341282"/>
                    <a:pt x="408154" y="369222"/>
                  </a:cubicBezTo>
                  <a:cubicBezTo>
                    <a:pt x="386564" y="397162"/>
                    <a:pt x="354814" y="422562"/>
                    <a:pt x="321794" y="436532"/>
                  </a:cubicBezTo>
                  <a:cubicBezTo>
                    <a:pt x="290044" y="451772"/>
                    <a:pt x="249404" y="458122"/>
                    <a:pt x="213844" y="456852"/>
                  </a:cubicBezTo>
                  <a:cubicBezTo>
                    <a:pt x="179554" y="454312"/>
                    <a:pt x="140184" y="442882"/>
                    <a:pt x="109704" y="423832"/>
                  </a:cubicBezTo>
                  <a:cubicBezTo>
                    <a:pt x="79224" y="406052"/>
                    <a:pt x="51284" y="376842"/>
                    <a:pt x="32234" y="346362"/>
                  </a:cubicBezTo>
                  <a:cubicBezTo>
                    <a:pt x="14454" y="315882"/>
                    <a:pt x="1754" y="277782"/>
                    <a:pt x="484" y="242222"/>
                  </a:cubicBezTo>
                  <a:cubicBezTo>
                    <a:pt x="-2056" y="206662"/>
                    <a:pt x="5564" y="167292"/>
                    <a:pt x="19534" y="134272"/>
                  </a:cubicBezTo>
                  <a:cubicBezTo>
                    <a:pt x="34774" y="102522"/>
                    <a:pt x="58904" y="70772"/>
                    <a:pt x="86844" y="47912"/>
                  </a:cubicBezTo>
                  <a:cubicBezTo>
                    <a:pt x="114784" y="26322"/>
                    <a:pt x="151614" y="9812"/>
                    <a:pt x="187174" y="3462"/>
                  </a:cubicBezTo>
                  <a:cubicBezTo>
                    <a:pt x="221464" y="-2888"/>
                    <a:pt x="262104" y="-348"/>
                    <a:pt x="296394" y="9812"/>
                  </a:cubicBezTo>
                  <a:cubicBezTo>
                    <a:pt x="330684" y="21242"/>
                    <a:pt x="390374" y="66962"/>
                    <a:pt x="390374" y="66962"/>
                  </a:cubicBezTo>
                </a:path>
              </a:pathLst>
            </a:custGeom>
            <a:solidFill>
              <a:srgbClr val="200934">
                <a:alpha val="5882"/>
              </a:srgbClr>
            </a:solidFill>
            <a:ln w="12700">
              <a:solidFill>
                <a:srgbClr val="000000"/>
              </a:solidFill>
            </a:ln>
          </p:spPr>
        </p:sp>
      </p:grpSp>
      <p:sp>
        <p:nvSpPr>
          <p:cNvPr id="15" name="Freeform 15"/>
          <p:cNvSpPr/>
          <p:nvPr/>
        </p:nvSpPr>
        <p:spPr>
          <a:xfrm>
            <a:off x="17022127" y="7903835"/>
            <a:ext cx="1114615" cy="1114615"/>
          </a:xfrm>
          <a:custGeom>
            <a:avLst/>
            <a:gdLst/>
            <a:ahLst/>
            <a:cxnLst/>
            <a:rect l="l" t="t" r="r" b="b"/>
            <a:pathLst>
              <a:path w="1114615" h="1114615">
                <a:moveTo>
                  <a:pt x="0" y="0"/>
                </a:moveTo>
                <a:lnTo>
                  <a:pt x="1114615" y="0"/>
                </a:lnTo>
                <a:lnTo>
                  <a:pt x="1114615" y="1114615"/>
                </a:lnTo>
                <a:lnTo>
                  <a:pt x="0" y="11146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TextBox 2"/>
          <p:cNvSpPr txBox="1"/>
          <p:nvPr/>
        </p:nvSpPr>
        <p:spPr>
          <a:xfrm>
            <a:off x="5134932" y="1585157"/>
            <a:ext cx="7624823" cy="927101"/>
          </a:xfrm>
          <a:prstGeom prst="rect">
            <a:avLst/>
          </a:prstGeom>
        </p:spPr>
        <p:txBody>
          <a:bodyPr lIns="0" tIns="0" rIns="0" bIns="0" rtlCol="0" anchor="t">
            <a:spAutoFit/>
          </a:bodyPr>
          <a:lstStyle/>
          <a:p>
            <a:pPr algn="ctr">
              <a:lnSpc>
                <a:spcPts val="8000"/>
              </a:lnSpc>
            </a:pPr>
            <a:r>
              <a:rPr lang="en-US" sz="8000">
                <a:solidFill>
                  <a:srgbClr val="D1E7E9"/>
                </a:solidFill>
                <a:latin typeface="Georgia Pro Condensed"/>
                <a:ea typeface="Georgia Pro Condensed"/>
                <a:cs typeface="Georgia Pro Condensed"/>
                <a:sym typeface="Georgia Pro Condensed"/>
              </a:rPr>
              <a:t>INTRODUCTION</a:t>
            </a:r>
          </a:p>
        </p:txBody>
      </p:sp>
      <p:sp>
        <p:nvSpPr>
          <p:cNvPr id="3" name="TextBox 3"/>
          <p:cNvSpPr txBox="1"/>
          <p:nvPr/>
        </p:nvSpPr>
        <p:spPr>
          <a:xfrm>
            <a:off x="752434" y="3931840"/>
            <a:ext cx="17087933" cy="3447893"/>
          </a:xfrm>
          <a:prstGeom prst="rect">
            <a:avLst/>
          </a:prstGeom>
        </p:spPr>
        <p:txBody>
          <a:bodyPr lIns="0" tIns="0" rIns="0" bIns="0" rtlCol="0" anchor="t">
            <a:spAutoFit/>
          </a:bodyPr>
          <a:lstStyle/>
          <a:p>
            <a:pPr algn="l">
              <a:lnSpc>
                <a:spcPts val="3898"/>
              </a:lnSpc>
            </a:pPr>
            <a:r>
              <a:rPr lang="en-US" sz="2783">
                <a:solidFill>
                  <a:srgbClr val="D1E7E9"/>
                </a:solidFill>
                <a:latin typeface="Helvetica World"/>
                <a:ea typeface="Helvetica World"/>
                <a:cs typeface="Helvetica World"/>
                <a:sym typeface="Helvetica World"/>
              </a:rPr>
              <a:t>This project presents a simple and efficient console-based Student Management System developed using the C programming language to automate student record handling and reduce manual errors. The system uses text files for secure data storage instead of a database, making it lightweight and easy to deploy. It supports user authentication with role-based access for Admin, Staff, and Guest to ensure data security. The application allows complete CRUD operations on student records through a user-friendly, menu-driven interface and follows modular and maintainable coding practices, making it ideal for small institutions and academic learning environments.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TextBox 2"/>
          <p:cNvSpPr txBox="1"/>
          <p:nvPr/>
        </p:nvSpPr>
        <p:spPr>
          <a:xfrm>
            <a:off x="17259300" y="9182100"/>
            <a:ext cx="152400" cy="228600"/>
          </a:xfrm>
          <a:prstGeom prst="rect">
            <a:avLst/>
          </a:prstGeom>
        </p:spPr>
        <p:txBody>
          <a:bodyPr lIns="0" tIns="0" rIns="0" bIns="0" rtlCol="0" anchor="t">
            <a:spAutoFit/>
          </a:bodyPr>
          <a:lstStyle/>
          <a:p>
            <a:pPr algn="ctr">
              <a:lnSpc>
                <a:spcPts val="2800"/>
              </a:lnSpc>
            </a:pPr>
            <a:r>
              <a:rPr lang="en-US" sz="2000">
                <a:solidFill>
                  <a:srgbClr val="D1E7E9"/>
                </a:solidFill>
                <a:latin typeface="Helvetica World"/>
                <a:ea typeface="Helvetica World"/>
                <a:cs typeface="Helvetica World"/>
                <a:sym typeface="Helvetica World"/>
              </a:rPr>
              <a:t>3</a:t>
            </a:r>
          </a:p>
        </p:txBody>
      </p:sp>
      <p:sp>
        <p:nvSpPr>
          <p:cNvPr id="3" name="Freeform 3"/>
          <p:cNvSpPr/>
          <p:nvPr/>
        </p:nvSpPr>
        <p:spPr>
          <a:xfrm>
            <a:off x="666750" y="522089"/>
            <a:ext cx="16954500" cy="9098165"/>
          </a:xfrm>
          <a:custGeom>
            <a:avLst/>
            <a:gdLst/>
            <a:ahLst/>
            <a:cxnLst/>
            <a:rect l="l" t="t" r="r" b="b"/>
            <a:pathLst>
              <a:path w="16954500" h="9098165">
                <a:moveTo>
                  <a:pt x="0" y="0"/>
                </a:moveTo>
                <a:lnTo>
                  <a:pt x="16954500" y="0"/>
                </a:lnTo>
                <a:lnTo>
                  <a:pt x="16954500" y="9098165"/>
                </a:lnTo>
                <a:lnTo>
                  <a:pt x="0" y="90981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800225" y="1412081"/>
            <a:ext cx="13249275" cy="1362868"/>
          </a:xfrm>
          <a:prstGeom prst="rect">
            <a:avLst/>
          </a:prstGeom>
        </p:spPr>
        <p:txBody>
          <a:bodyPr lIns="0" tIns="0" rIns="0" bIns="0" rtlCol="0" anchor="t">
            <a:spAutoFit/>
          </a:bodyPr>
          <a:lstStyle/>
          <a:p>
            <a:pPr algn="l">
              <a:lnSpc>
                <a:spcPts val="10400"/>
              </a:lnSpc>
            </a:pPr>
            <a:r>
              <a:rPr lang="en-US" sz="8000" spc="-240">
                <a:solidFill>
                  <a:srgbClr val="D1E7E9"/>
                </a:solidFill>
                <a:latin typeface="Georgia Pro Condensed"/>
                <a:ea typeface="Georgia Pro Condensed"/>
                <a:cs typeface="Georgia Pro Condensed"/>
                <a:sym typeface="Georgia Pro Condensed"/>
              </a:rPr>
              <a:t>Objectives</a:t>
            </a:r>
          </a:p>
        </p:txBody>
      </p:sp>
      <p:sp>
        <p:nvSpPr>
          <p:cNvPr id="5" name="TextBox 5"/>
          <p:cNvSpPr txBox="1"/>
          <p:nvPr/>
        </p:nvSpPr>
        <p:spPr>
          <a:xfrm>
            <a:off x="1800225" y="3210009"/>
            <a:ext cx="13249275" cy="419100"/>
          </a:xfrm>
          <a:prstGeom prst="rect">
            <a:avLst/>
          </a:prstGeom>
        </p:spPr>
        <p:txBody>
          <a:bodyPr lIns="0" tIns="0" rIns="0" bIns="0" rtlCol="0" anchor="t">
            <a:spAutoFit/>
          </a:bodyPr>
          <a:lstStyle/>
          <a:p>
            <a:pPr algn="l">
              <a:lnSpc>
                <a:spcPts val="3000"/>
              </a:lnSpc>
            </a:pPr>
            <a:r>
              <a:rPr lang="en-US" sz="2499" b="1" spc="-37">
                <a:solidFill>
                  <a:srgbClr val="A1C4C9"/>
                </a:solidFill>
                <a:latin typeface="Helvetica World Bold"/>
                <a:ea typeface="Helvetica World Bold"/>
                <a:cs typeface="Helvetica World Bold"/>
                <a:sym typeface="Helvetica World Bold"/>
              </a:rPr>
              <a:t>Key goals for the system</a:t>
            </a:r>
          </a:p>
        </p:txBody>
      </p:sp>
      <p:sp>
        <p:nvSpPr>
          <p:cNvPr id="6" name="TextBox 6"/>
          <p:cNvSpPr txBox="1"/>
          <p:nvPr/>
        </p:nvSpPr>
        <p:spPr>
          <a:xfrm>
            <a:off x="1800225" y="5160169"/>
            <a:ext cx="4308497"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Secure System</a:t>
            </a:r>
          </a:p>
        </p:txBody>
      </p:sp>
      <p:sp>
        <p:nvSpPr>
          <p:cNvPr id="7" name="TextBox 7"/>
          <p:cNvSpPr txBox="1"/>
          <p:nvPr/>
        </p:nvSpPr>
        <p:spPr>
          <a:xfrm>
            <a:off x="1800225" y="5915025"/>
            <a:ext cx="4308497" cy="2159000"/>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primary objective is to create a </a:t>
            </a:r>
            <a:r>
              <a:rPr lang="en-US" sz="2000" b="1" spc="-30">
                <a:solidFill>
                  <a:srgbClr val="D1E7E9"/>
                </a:solidFill>
                <a:latin typeface="Helvetica World Bold"/>
                <a:ea typeface="Helvetica World Bold"/>
                <a:cs typeface="Helvetica World Bold"/>
                <a:sym typeface="Helvetica World Bold"/>
              </a:rPr>
              <a:t>secure system</a:t>
            </a:r>
            <a:r>
              <a:rPr lang="en-US" sz="2000" spc="-30">
                <a:solidFill>
                  <a:srgbClr val="D1E7E9"/>
                </a:solidFill>
                <a:latin typeface="Helvetica World"/>
                <a:ea typeface="Helvetica World"/>
                <a:cs typeface="Helvetica World"/>
                <a:sym typeface="Helvetica World"/>
              </a:rPr>
              <a:t> that protects user data through robust authentication mechanisms, ensuring only authorized personnel can access sensitive information.</a:t>
            </a:r>
          </a:p>
        </p:txBody>
      </p:sp>
      <p:sp>
        <p:nvSpPr>
          <p:cNvPr id="8" name="TextBox 8"/>
          <p:cNvSpPr txBox="1"/>
          <p:nvPr/>
        </p:nvSpPr>
        <p:spPr>
          <a:xfrm>
            <a:off x="6898075" y="5131594"/>
            <a:ext cx="4010025"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Role-Based Authentication</a:t>
            </a:r>
          </a:p>
        </p:txBody>
      </p:sp>
      <p:sp>
        <p:nvSpPr>
          <p:cNvPr id="9" name="TextBox 9"/>
          <p:cNvSpPr txBox="1"/>
          <p:nvPr/>
        </p:nvSpPr>
        <p:spPr>
          <a:xfrm>
            <a:off x="6898075" y="5886450"/>
            <a:ext cx="4010025" cy="2187575"/>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Implementing </a:t>
            </a:r>
            <a:r>
              <a:rPr lang="en-US" sz="2000" b="1" spc="-30">
                <a:solidFill>
                  <a:srgbClr val="D1E7E9"/>
                </a:solidFill>
                <a:latin typeface="Helvetica World Bold"/>
                <a:ea typeface="Helvetica World Bold"/>
                <a:cs typeface="Helvetica World Bold"/>
                <a:sym typeface="Helvetica World Bold"/>
              </a:rPr>
              <a:t>role-based authentication</a:t>
            </a:r>
            <a:r>
              <a:rPr lang="en-US" sz="2000" spc="-30">
                <a:solidFill>
                  <a:srgbClr val="D1E7E9"/>
                </a:solidFill>
                <a:latin typeface="Helvetica World"/>
                <a:ea typeface="Helvetica World"/>
                <a:cs typeface="Helvetica World"/>
                <a:sym typeface="Helvetica World"/>
              </a:rPr>
              <a:t> allows different access levels for Admin, Staff, and Guest users, enhancing system security and ensuring that users can only perform authorized actions.</a:t>
            </a:r>
          </a:p>
        </p:txBody>
      </p:sp>
      <p:sp>
        <p:nvSpPr>
          <p:cNvPr id="10" name="TextBox 10"/>
          <p:cNvSpPr txBox="1"/>
          <p:nvPr/>
        </p:nvSpPr>
        <p:spPr>
          <a:xfrm>
            <a:off x="12172950" y="5160169"/>
            <a:ext cx="4010025"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Data Persistence</a:t>
            </a:r>
          </a:p>
        </p:txBody>
      </p:sp>
      <p:sp>
        <p:nvSpPr>
          <p:cNvPr id="11" name="TextBox 11"/>
          <p:cNvSpPr txBox="1"/>
          <p:nvPr/>
        </p:nvSpPr>
        <p:spPr>
          <a:xfrm>
            <a:off x="12172950" y="5915025"/>
            <a:ext cx="4010025" cy="2159000"/>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Utilizing </a:t>
            </a:r>
            <a:r>
              <a:rPr lang="en-US" sz="2000" b="1" spc="-30">
                <a:solidFill>
                  <a:srgbClr val="D1E7E9"/>
                </a:solidFill>
                <a:latin typeface="Helvetica World Bold"/>
                <a:ea typeface="Helvetica World Bold"/>
                <a:cs typeface="Helvetica World Bold"/>
                <a:sym typeface="Helvetica World Bold"/>
              </a:rPr>
              <a:t>file handling</a:t>
            </a:r>
            <a:r>
              <a:rPr lang="en-US" sz="2000" spc="-30">
                <a:solidFill>
                  <a:srgbClr val="D1E7E9"/>
                </a:solidFill>
                <a:latin typeface="Helvetica World"/>
                <a:ea typeface="Helvetica World"/>
                <a:cs typeface="Helvetica World"/>
                <a:sym typeface="Helvetica World"/>
              </a:rPr>
              <a:t> techniques, the system maintains data persistence, allowing records to be stored and retrieved efficiently, ensuring reliable access to student information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TextBox 2"/>
          <p:cNvSpPr txBox="1"/>
          <p:nvPr/>
        </p:nvSpPr>
        <p:spPr>
          <a:xfrm>
            <a:off x="17259300" y="9182100"/>
            <a:ext cx="152400" cy="228600"/>
          </a:xfrm>
          <a:prstGeom prst="rect">
            <a:avLst/>
          </a:prstGeom>
        </p:spPr>
        <p:txBody>
          <a:bodyPr lIns="0" tIns="0" rIns="0" bIns="0" rtlCol="0" anchor="t">
            <a:spAutoFit/>
          </a:bodyPr>
          <a:lstStyle/>
          <a:p>
            <a:pPr algn="ctr">
              <a:lnSpc>
                <a:spcPts val="2800"/>
              </a:lnSpc>
            </a:pPr>
            <a:r>
              <a:rPr lang="en-US" sz="2000">
                <a:solidFill>
                  <a:srgbClr val="D1E7E9"/>
                </a:solidFill>
                <a:latin typeface="Helvetica World"/>
                <a:ea typeface="Helvetica World"/>
                <a:cs typeface="Helvetica World"/>
                <a:sym typeface="Helvetica World"/>
              </a:rPr>
              <a:t>4</a:t>
            </a:r>
          </a:p>
        </p:txBody>
      </p:sp>
      <p:sp>
        <p:nvSpPr>
          <p:cNvPr id="3" name="Freeform 3"/>
          <p:cNvSpPr/>
          <p:nvPr/>
        </p:nvSpPr>
        <p:spPr>
          <a:xfrm>
            <a:off x="666750" y="522089"/>
            <a:ext cx="16954500" cy="9098165"/>
          </a:xfrm>
          <a:custGeom>
            <a:avLst/>
            <a:gdLst/>
            <a:ahLst/>
            <a:cxnLst/>
            <a:rect l="l" t="t" r="r" b="b"/>
            <a:pathLst>
              <a:path w="16954500" h="9098165">
                <a:moveTo>
                  <a:pt x="0" y="0"/>
                </a:moveTo>
                <a:lnTo>
                  <a:pt x="16954500" y="0"/>
                </a:lnTo>
                <a:lnTo>
                  <a:pt x="16954500" y="9098165"/>
                </a:lnTo>
                <a:lnTo>
                  <a:pt x="0" y="90981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800225" y="1412081"/>
            <a:ext cx="13249275" cy="1362868"/>
          </a:xfrm>
          <a:prstGeom prst="rect">
            <a:avLst/>
          </a:prstGeom>
        </p:spPr>
        <p:txBody>
          <a:bodyPr lIns="0" tIns="0" rIns="0" bIns="0" rtlCol="0" anchor="t">
            <a:spAutoFit/>
          </a:bodyPr>
          <a:lstStyle/>
          <a:p>
            <a:pPr algn="l">
              <a:lnSpc>
                <a:spcPts val="10400"/>
              </a:lnSpc>
            </a:pPr>
            <a:r>
              <a:rPr lang="en-US" sz="8000" spc="-240">
                <a:solidFill>
                  <a:srgbClr val="D1E7E9"/>
                </a:solidFill>
                <a:latin typeface="Georgia Pro Condensed"/>
                <a:ea typeface="Georgia Pro Condensed"/>
                <a:cs typeface="Georgia Pro Condensed"/>
                <a:sym typeface="Georgia Pro Condensed"/>
              </a:rPr>
              <a:t>System Modules</a:t>
            </a:r>
          </a:p>
        </p:txBody>
      </p:sp>
      <p:sp>
        <p:nvSpPr>
          <p:cNvPr id="5" name="TextBox 5"/>
          <p:cNvSpPr txBox="1"/>
          <p:nvPr/>
        </p:nvSpPr>
        <p:spPr>
          <a:xfrm>
            <a:off x="1800225" y="3210009"/>
            <a:ext cx="13249275" cy="419100"/>
          </a:xfrm>
          <a:prstGeom prst="rect">
            <a:avLst/>
          </a:prstGeom>
        </p:spPr>
        <p:txBody>
          <a:bodyPr lIns="0" tIns="0" rIns="0" bIns="0" rtlCol="0" anchor="t">
            <a:spAutoFit/>
          </a:bodyPr>
          <a:lstStyle/>
          <a:p>
            <a:pPr algn="l">
              <a:lnSpc>
                <a:spcPts val="3000"/>
              </a:lnSpc>
            </a:pPr>
            <a:r>
              <a:rPr lang="en-US" sz="2499" b="1" spc="-37">
                <a:solidFill>
                  <a:srgbClr val="A1C4C9"/>
                </a:solidFill>
                <a:latin typeface="Helvetica World Bold"/>
                <a:ea typeface="Helvetica World Bold"/>
                <a:cs typeface="Helvetica World Bold"/>
                <a:sym typeface="Helvetica World Bold"/>
              </a:rPr>
              <a:t>Overview of key system components</a:t>
            </a:r>
          </a:p>
        </p:txBody>
      </p:sp>
      <p:sp>
        <p:nvSpPr>
          <p:cNvPr id="6" name="TextBox 6"/>
          <p:cNvSpPr txBox="1"/>
          <p:nvPr/>
        </p:nvSpPr>
        <p:spPr>
          <a:xfrm>
            <a:off x="1800225" y="5160169"/>
            <a:ext cx="4308497"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Login &amp; Authentication</a:t>
            </a:r>
          </a:p>
        </p:txBody>
      </p:sp>
      <p:sp>
        <p:nvSpPr>
          <p:cNvPr id="7" name="TextBox 7"/>
          <p:cNvSpPr txBox="1"/>
          <p:nvPr/>
        </p:nvSpPr>
        <p:spPr>
          <a:xfrm>
            <a:off x="1800225" y="5915025"/>
            <a:ext cx="4308497" cy="1778000"/>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Login &amp; Authentication module ensures that users provide valid credentials, verifying their identity against stored records to control access based on their assigned roles.</a:t>
            </a:r>
          </a:p>
        </p:txBody>
      </p:sp>
      <p:sp>
        <p:nvSpPr>
          <p:cNvPr id="8" name="TextBox 8"/>
          <p:cNvSpPr txBox="1"/>
          <p:nvPr/>
        </p:nvSpPr>
        <p:spPr>
          <a:xfrm>
            <a:off x="7291388" y="5160169"/>
            <a:ext cx="4010025"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Menu Module</a:t>
            </a:r>
          </a:p>
        </p:txBody>
      </p:sp>
      <p:sp>
        <p:nvSpPr>
          <p:cNvPr id="9" name="TextBox 9"/>
          <p:cNvSpPr txBox="1"/>
          <p:nvPr/>
        </p:nvSpPr>
        <p:spPr>
          <a:xfrm>
            <a:off x="7291388" y="5915025"/>
            <a:ext cx="4010025" cy="2130425"/>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Menu Module facilitates user navigation, displaying options tailored to Admin, Staff, or Guest roles, enabling access to specific functionalities based on user permissions.</a:t>
            </a:r>
          </a:p>
        </p:txBody>
      </p:sp>
      <p:sp>
        <p:nvSpPr>
          <p:cNvPr id="10" name="TextBox 10"/>
          <p:cNvSpPr txBox="1"/>
          <p:nvPr/>
        </p:nvSpPr>
        <p:spPr>
          <a:xfrm>
            <a:off x="12172950" y="5160169"/>
            <a:ext cx="4010025" cy="383381"/>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Student Record Module</a:t>
            </a:r>
          </a:p>
        </p:txBody>
      </p:sp>
      <p:sp>
        <p:nvSpPr>
          <p:cNvPr id="11" name="TextBox 11"/>
          <p:cNvSpPr txBox="1"/>
          <p:nvPr/>
        </p:nvSpPr>
        <p:spPr>
          <a:xfrm>
            <a:off x="12172950" y="5915025"/>
            <a:ext cx="4010025" cy="2130425"/>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Student Record Module manages all student data operations, allowing users to perform CRUD actions, ensuring data integrity and persistence through file handling and validation processes.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grpSp>
        <p:nvGrpSpPr>
          <p:cNvPr id="2" name="Group 2"/>
          <p:cNvGrpSpPr/>
          <p:nvPr/>
        </p:nvGrpSpPr>
        <p:grpSpPr>
          <a:xfrm>
            <a:off x="11530781" y="0"/>
            <a:ext cx="6757219" cy="10287000"/>
            <a:chOff x="0" y="0"/>
            <a:chExt cx="9009625" cy="13716000"/>
          </a:xfrm>
        </p:grpSpPr>
        <p:sp>
          <p:nvSpPr>
            <p:cNvPr id="3" name="Freeform 3"/>
            <p:cNvSpPr/>
            <p:nvPr/>
          </p:nvSpPr>
          <p:spPr>
            <a:xfrm>
              <a:off x="0" y="0"/>
              <a:ext cx="9009634" cy="13716000"/>
            </a:xfrm>
            <a:custGeom>
              <a:avLst/>
              <a:gdLst/>
              <a:ahLst/>
              <a:cxnLst/>
              <a:rect l="l" t="t" r="r" b="b"/>
              <a:pathLst>
                <a:path w="9009634" h="13716000">
                  <a:moveTo>
                    <a:pt x="0" y="0"/>
                  </a:moveTo>
                  <a:lnTo>
                    <a:pt x="9009634" y="0"/>
                  </a:lnTo>
                  <a:lnTo>
                    <a:pt x="9009634" y="13716000"/>
                  </a:lnTo>
                  <a:lnTo>
                    <a:pt x="0" y="13716000"/>
                  </a:lnTo>
                  <a:lnTo>
                    <a:pt x="0" y="0"/>
                  </a:lnTo>
                  <a:close/>
                </a:path>
              </a:pathLst>
            </a:custGeom>
            <a:blipFill>
              <a:blip r:embed="rId2"/>
              <a:stretch>
                <a:fillRect l="-745" r="-745"/>
              </a:stretch>
            </a:blipFill>
          </p:spPr>
        </p:sp>
      </p:grpSp>
      <p:sp>
        <p:nvSpPr>
          <p:cNvPr id="4" name="TextBox 4"/>
          <p:cNvSpPr txBox="1"/>
          <p:nvPr/>
        </p:nvSpPr>
        <p:spPr>
          <a:xfrm>
            <a:off x="666750" y="952500"/>
            <a:ext cx="10328058" cy="193675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Methodology Overview: System Operations</a:t>
            </a:r>
          </a:p>
        </p:txBody>
      </p:sp>
      <p:sp>
        <p:nvSpPr>
          <p:cNvPr id="5" name="TextBox 5"/>
          <p:cNvSpPr txBox="1"/>
          <p:nvPr/>
        </p:nvSpPr>
        <p:spPr>
          <a:xfrm>
            <a:off x="275872" y="3178756"/>
            <a:ext cx="11109813" cy="5842795"/>
          </a:xfrm>
          <a:prstGeom prst="rect">
            <a:avLst/>
          </a:prstGeom>
        </p:spPr>
        <p:txBody>
          <a:bodyPr lIns="0" tIns="0" rIns="0" bIns="0" rtlCol="0" anchor="t">
            <a:spAutoFit/>
          </a:bodyPr>
          <a:lstStyle/>
          <a:p>
            <a:pPr algn="l">
              <a:lnSpc>
                <a:spcPts val="3858"/>
              </a:lnSpc>
            </a:pPr>
            <a:r>
              <a:rPr lang="en-US" sz="2756" spc="-41">
                <a:solidFill>
                  <a:srgbClr val="D1E7E9"/>
                </a:solidFill>
                <a:latin typeface="Helvetica World"/>
                <a:ea typeface="Helvetica World"/>
                <a:cs typeface="Helvetica World"/>
                <a:sym typeface="Helvetica World"/>
              </a:rPr>
              <a:t>The system follows a structured and reliable methodology for managing student data. When the application starts, it first performs user authentication, where valid login credentials are required to access the system. The entered credentials are verified by comparing them with records stored in a file. Upon successful login, the user is presented with a role-based menu that displays permitted actions such as add, view, search, update, or delete. Based on the selected option, the corresponding modular function is executed. All student information is read from or written to text files, which serve as the primary storage. The output of each operation is immediately displayed on the console, and the process continues in a loop until the user chooses to log out and safely terminate the program.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TextBox 2"/>
          <p:cNvSpPr txBox="1"/>
          <p:nvPr/>
        </p:nvSpPr>
        <p:spPr>
          <a:xfrm>
            <a:off x="669118" y="3376612"/>
            <a:ext cx="4007657" cy="381000"/>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Program Initialization</a:t>
            </a:r>
          </a:p>
        </p:txBody>
      </p:sp>
      <p:sp>
        <p:nvSpPr>
          <p:cNvPr id="3" name="TextBox 3"/>
          <p:cNvSpPr txBox="1"/>
          <p:nvPr/>
        </p:nvSpPr>
        <p:spPr>
          <a:xfrm>
            <a:off x="669118" y="5067300"/>
            <a:ext cx="4007657" cy="1816100"/>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program begins with </a:t>
            </a:r>
            <a:r>
              <a:rPr lang="en-US" sz="2000" b="1" spc="-30">
                <a:solidFill>
                  <a:srgbClr val="D1E7E9"/>
                </a:solidFill>
                <a:latin typeface="Helvetica World Bold"/>
                <a:ea typeface="Helvetica World Bold"/>
                <a:cs typeface="Helvetica World Bold"/>
                <a:sym typeface="Helvetica World Bold"/>
              </a:rPr>
              <a:t>initialization</a:t>
            </a:r>
            <a:r>
              <a:rPr lang="en-US" sz="2000" spc="-30">
                <a:solidFill>
                  <a:srgbClr val="D1E7E9"/>
                </a:solidFill>
                <a:latin typeface="Helvetica World"/>
                <a:ea typeface="Helvetica World"/>
                <a:cs typeface="Helvetica World"/>
                <a:sym typeface="Helvetica World"/>
              </a:rPr>
              <a:t>, setting up necessary resources and preparing the environment for user interaction and file management.</a:t>
            </a:r>
          </a:p>
        </p:txBody>
      </p:sp>
      <p:sp>
        <p:nvSpPr>
          <p:cNvPr id="4" name="TextBox 4"/>
          <p:cNvSpPr txBox="1"/>
          <p:nvPr/>
        </p:nvSpPr>
        <p:spPr>
          <a:xfrm>
            <a:off x="4981575" y="3376612"/>
            <a:ext cx="4010025" cy="381000"/>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User Login</a:t>
            </a:r>
          </a:p>
        </p:txBody>
      </p:sp>
      <p:sp>
        <p:nvSpPr>
          <p:cNvPr id="5" name="TextBox 5"/>
          <p:cNvSpPr txBox="1"/>
          <p:nvPr/>
        </p:nvSpPr>
        <p:spPr>
          <a:xfrm>
            <a:off x="13616434" y="3332957"/>
            <a:ext cx="4003106" cy="381000"/>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Menu Operations</a:t>
            </a:r>
          </a:p>
        </p:txBody>
      </p:sp>
      <p:sp>
        <p:nvSpPr>
          <p:cNvPr id="6" name="TextBox 6"/>
          <p:cNvSpPr txBox="1"/>
          <p:nvPr/>
        </p:nvSpPr>
        <p:spPr>
          <a:xfrm>
            <a:off x="4981575" y="5067300"/>
            <a:ext cx="4010025" cy="1463675"/>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Users enter their credentials in the </a:t>
            </a:r>
            <a:r>
              <a:rPr lang="en-US" sz="2000" b="1" spc="-30">
                <a:solidFill>
                  <a:srgbClr val="D1E7E9"/>
                </a:solidFill>
                <a:latin typeface="Helvetica World Bold"/>
                <a:ea typeface="Helvetica World Bold"/>
                <a:cs typeface="Helvetica World Bold"/>
                <a:sym typeface="Helvetica World Bold"/>
              </a:rPr>
              <a:t>login</a:t>
            </a:r>
            <a:r>
              <a:rPr lang="en-US" sz="2000" spc="-30">
                <a:solidFill>
                  <a:srgbClr val="D1E7E9"/>
                </a:solidFill>
                <a:latin typeface="Helvetica World"/>
                <a:ea typeface="Helvetica World"/>
                <a:cs typeface="Helvetica World"/>
                <a:sym typeface="Helvetica World"/>
              </a:rPr>
              <a:t> phase, which checks against stored data to authenticate access and ensure security.</a:t>
            </a:r>
          </a:p>
        </p:txBody>
      </p:sp>
      <p:sp>
        <p:nvSpPr>
          <p:cNvPr id="7" name="TextBox 7"/>
          <p:cNvSpPr txBox="1"/>
          <p:nvPr/>
        </p:nvSpPr>
        <p:spPr>
          <a:xfrm>
            <a:off x="13611225" y="5067300"/>
            <a:ext cx="4003106" cy="1844675"/>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The final step involves </a:t>
            </a:r>
            <a:r>
              <a:rPr lang="en-US" sz="2000" b="1" spc="-30">
                <a:solidFill>
                  <a:srgbClr val="D1E7E9"/>
                </a:solidFill>
                <a:latin typeface="Helvetica World Bold"/>
                <a:ea typeface="Helvetica World Bold"/>
                <a:cs typeface="Helvetica World Bold"/>
                <a:sym typeface="Helvetica World Bold"/>
              </a:rPr>
              <a:t>menu operations</a:t>
            </a:r>
            <a:r>
              <a:rPr lang="en-US" sz="2000" spc="-30">
                <a:solidFill>
                  <a:srgbClr val="D1E7E9"/>
                </a:solidFill>
                <a:latin typeface="Helvetica World"/>
                <a:ea typeface="Helvetica World"/>
                <a:cs typeface="Helvetica World"/>
                <a:sym typeface="Helvetica World"/>
              </a:rPr>
              <a:t>, where users can execute various functions such as adding, viewing, or modifying student records, culminating in user logout.</a:t>
            </a:r>
          </a:p>
        </p:txBody>
      </p:sp>
      <p:sp>
        <p:nvSpPr>
          <p:cNvPr id="8" name="TextBox 8"/>
          <p:cNvSpPr txBox="1"/>
          <p:nvPr/>
        </p:nvSpPr>
        <p:spPr>
          <a:xfrm>
            <a:off x="9296400" y="3376612"/>
            <a:ext cx="3807849" cy="381000"/>
          </a:xfrm>
          <a:prstGeom prst="rect">
            <a:avLst/>
          </a:prstGeom>
        </p:spPr>
        <p:txBody>
          <a:bodyPr lIns="0" tIns="0" rIns="0" bIns="0" rtlCol="0" anchor="t">
            <a:spAutoFit/>
          </a:bodyPr>
          <a:lstStyle/>
          <a:p>
            <a:pPr algn="l">
              <a:lnSpc>
                <a:spcPts val="2999"/>
              </a:lnSpc>
            </a:pPr>
            <a:r>
              <a:rPr lang="en-US" sz="2499" b="1" spc="-37">
                <a:solidFill>
                  <a:srgbClr val="A1C4C9"/>
                </a:solidFill>
                <a:latin typeface="Helvetica World Bold"/>
                <a:ea typeface="Helvetica World Bold"/>
                <a:cs typeface="Helvetica World Bold"/>
                <a:sym typeface="Helvetica World Bold"/>
              </a:rPr>
              <a:t>Role Verification</a:t>
            </a:r>
          </a:p>
        </p:txBody>
      </p:sp>
      <p:sp>
        <p:nvSpPr>
          <p:cNvPr id="9" name="TextBox 9"/>
          <p:cNvSpPr txBox="1"/>
          <p:nvPr/>
        </p:nvSpPr>
        <p:spPr>
          <a:xfrm>
            <a:off x="9297189" y="5067300"/>
            <a:ext cx="4009236" cy="1816100"/>
          </a:xfrm>
          <a:prstGeom prst="rect">
            <a:avLst/>
          </a:prstGeom>
        </p:spPr>
        <p:txBody>
          <a:bodyPr lIns="0" tIns="0" rIns="0" bIns="0" rtlCol="0" anchor="t">
            <a:spAutoFit/>
          </a:bodyPr>
          <a:lstStyle/>
          <a:p>
            <a:pPr algn="l">
              <a:lnSpc>
                <a:spcPts val="2800"/>
              </a:lnSpc>
            </a:pPr>
            <a:r>
              <a:rPr lang="en-US" sz="2000" spc="-30">
                <a:solidFill>
                  <a:srgbClr val="D1E7E9"/>
                </a:solidFill>
                <a:latin typeface="Helvetica World"/>
                <a:ea typeface="Helvetica World"/>
                <a:cs typeface="Helvetica World"/>
                <a:sym typeface="Helvetica World"/>
              </a:rPr>
              <a:t>Following successful login, the system performs </a:t>
            </a:r>
            <a:r>
              <a:rPr lang="en-US" sz="2000" b="1" spc="-30">
                <a:solidFill>
                  <a:srgbClr val="D1E7E9"/>
                </a:solidFill>
                <a:latin typeface="Helvetica World Bold"/>
                <a:ea typeface="Helvetica World Bold"/>
                <a:cs typeface="Helvetica World Bold"/>
                <a:sym typeface="Helvetica World Bold"/>
              </a:rPr>
              <a:t>role verification</a:t>
            </a:r>
            <a:r>
              <a:rPr lang="en-US" sz="2000" spc="-30">
                <a:solidFill>
                  <a:srgbClr val="D1E7E9"/>
                </a:solidFill>
                <a:latin typeface="Helvetica World"/>
                <a:ea typeface="Helvetica World"/>
                <a:cs typeface="Helvetica World"/>
                <a:sym typeface="Helvetica World"/>
              </a:rPr>
              <a:t>, determining the user’s permissions and presenting a tailored menu based on their role.</a:t>
            </a:r>
          </a:p>
        </p:txBody>
      </p:sp>
      <p:grpSp>
        <p:nvGrpSpPr>
          <p:cNvPr id="10" name="Group 10"/>
          <p:cNvGrpSpPr/>
          <p:nvPr/>
        </p:nvGrpSpPr>
        <p:grpSpPr>
          <a:xfrm>
            <a:off x="983443" y="4400550"/>
            <a:ext cx="17626426" cy="19050"/>
            <a:chOff x="0" y="0"/>
            <a:chExt cx="23501901" cy="25400"/>
          </a:xfrm>
        </p:grpSpPr>
        <p:sp>
          <p:nvSpPr>
            <p:cNvPr id="11" name="Freeform 11"/>
            <p:cNvSpPr/>
            <p:nvPr/>
          </p:nvSpPr>
          <p:spPr>
            <a:xfrm>
              <a:off x="12700" y="0"/>
              <a:ext cx="23476458" cy="25400"/>
            </a:xfrm>
            <a:custGeom>
              <a:avLst/>
              <a:gdLst/>
              <a:ahLst/>
              <a:cxnLst/>
              <a:rect l="l" t="t" r="r" b="b"/>
              <a:pathLst>
                <a:path w="23476458" h="25400">
                  <a:moveTo>
                    <a:pt x="0" y="0"/>
                  </a:moveTo>
                  <a:lnTo>
                    <a:pt x="23476458" y="0"/>
                  </a:lnTo>
                  <a:lnTo>
                    <a:pt x="23476458" y="25400"/>
                  </a:lnTo>
                  <a:lnTo>
                    <a:pt x="0" y="25400"/>
                  </a:lnTo>
                  <a:close/>
                </a:path>
              </a:pathLst>
            </a:custGeom>
            <a:solidFill>
              <a:srgbClr val="D1E7E9"/>
            </a:solidFill>
            <a:ln w="12700">
              <a:solidFill>
                <a:srgbClr val="000000"/>
              </a:solidFill>
            </a:ln>
          </p:spPr>
        </p:sp>
      </p:grpSp>
      <p:grpSp>
        <p:nvGrpSpPr>
          <p:cNvPr id="12" name="Group 12"/>
          <p:cNvGrpSpPr/>
          <p:nvPr/>
        </p:nvGrpSpPr>
        <p:grpSpPr>
          <a:xfrm>
            <a:off x="669118" y="4248150"/>
            <a:ext cx="323850" cy="323850"/>
            <a:chOff x="0" y="0"/>
            <a:chExt cx="431800" cy="431800"/>
          </a:xfrm>
        </p:grpSpPr>
        <p:sp>
          <p:nvSpPr>
            <p:cNvPr id="13" name="Freeform 13"/>
            <p:cNvSpPr/>
            <p:nvPr/>
          </p:nvSpPr>
          <p:spPr>
            <a:xfrm>
              <a:off x="0" y="0"/>
              <a:ext cx="431800" cy="431800"/>
            </a:xfrm>
            <a:custGeom>
              <a:avLst/>
              <a:gdLst/>
              <a:ahLst/>
              <a:cxnLst/>
              <a:rect l="l" t="t" r="r" b="b"/>
              <a:pathLst>
                <a:path w="431800" h="431800">
                  <a:moveTo>
                    <a:pt x="215900" y="0"/>
                  </a:moveTo>
                  <a:cubicBezTo>
                    <a:pt x="96647" y="0"/>
                    <a:pt x="0" y="96647"/>
                    <a:pt x="0" y="215900"/>
                  </a:cubicBezTo>
                  <a:cubicBezTo>
                    <a:pt x="0" y="335153"/>
                    <a:pt x="96647" y="431800"/>
                    <a:pt x="215900" y="431800"/>
                  </a:cubicBezTo>
                  <a:cubicBezTo>
                    <a:pt x="335153" y="431800"/>
                    <a:pt x="431800" y="335153"/>
                    <a:pt x="431800" y="215900"/>
                  </a:cubicBezTo>
                  <a:cubicBezTo>
                    <a:pt x="431800" y="96647"/>
                    <a:pt x="335153" y="0"/>
                    <a:pt x="215900" y="0"/>
                  </a:cubicBezTo>
                  <a:close/>
                </a:path>
              </a:pathLst>
            </a:custGeom>
            <a:solidFill>
              <a:srgbClr val="D1E7E9"/>
            </a:solidFill>
            <a:ln w="12700">
              <a:solidFill>
                <a:srgbClr val="000000"/>
              </a:solidFill>
            </a:ln>
          </p:spPr>
        </p:sp>
      </p:grpSp>
      <p:grpSp>
        <p:nvGrpSpPr>
          <p:cNvPr id="14" name="Group 14"/>
          <p:cNvGrpSpPr/>
          <p:nvPr/>
        </p:nvGrpSpPr>
        <p:grpSpPr>
          <a:xfrm>
            <a:off x="4983154" y="4248150"/>
            <a:ext cx="323850" cy="323850"/>
            <a:chOff x="0" y="0"/>
            <a:chExt cx="431800" cy="431800"/>
          </a:xfrm>
        </p:grpSpPr>
        <p:sp>
          <p:nvSpPr>
            <p:cNvPr id="15" name="Freeform 15"/>
            <p:cNvSpPr/>
            <p:nvPr/>
          </p:nvSpPr>
          <p:spPr>
            <a:xfrm>
              <a:off x="0" y="0"/>
              <a:ext cx="431800" cy="431800"/>
            </a:xfrm>
            <a:custGeom>
              <a:avLst/>
              <a:gdLst/>
              <a:ahLst/>
              <a:cxnLst/>
              <a:rect l="l" t="t" r="r" b="b"/>
              <a:pathLst>
                <a:path w="431800" h="431800">
                  <a:moveTo>
                    <a:pt x="215900" y="0"/>
                  </a:moveTo>
                  <a:cubicBezTo>
                    <a:pt x="96647" y="0"/>
                    <a:pt x="0" y="96647"/>
                    <a:pt x="0" y="215900"/>
                  </a:cubicBezTo>
                  <a:cubicBezTo>
                    <a:pt x="0" y="335153"/>
                    <a:pt x="96647" y="431800"/>
                    <a:pt x="215900" y="431800"/>
                  </a:cubicBezTo>
                  <a:cubicBezTo>
                    <a:pt x="335153" y="431800"/>
                    <a:pt x="431800" y="335153"/>
                    <a:pt x="431800" y="215900"/>
                  </a:cubicBezTo>
                  <a:cubicBezTo>
                    <a:pt x="431800" y="96647"/>
                    <a:pt x="335153" y="0"/>
                    <a:pt x="215900" y="0"/>
                  </a:cubicBezTo>
                  <a:close/>
                </a:path>
              </a:pathLst>
            </a:custGeom>
            <a:solidFill>
              <a:srgbClr val="D1E7E9"/>
            </a:solidFill>
            <a:ln w="12700">
              <a:solidFill>
                <a:srgbClr val="000000"/>
              </a:solidFill>
            </a:ln>
          </p:spPr>
        </p:sp>
      </p:grpSp>
      <p:grpSp>
        <p:nvGrpSpPr>
          <p:cNvPr id="16" name="Group 16"/>
          <p:cNvGrpSpPr/>
          <p:nvPr/>
        </p:nvGrpSpPr>
        <p:grpSpPr>
          <a:xfrm>
            <a:off x="9297189" y="4248150"/>
            <a:ext cx="323850" cy="323850"/>
            <a:chOff x="0" y="0"/>
            <a:chExt cx="431800" cy="431800"/>
          </a:xfrm>
        </p:grpSpPr>
        <p:sp>
          <p:nvSpPr>
            <p:cNvPr id="17" name="Freeform 17"/>
            <p:cNvSpPr/>
            <p:nvPr/>
          </p:nvSpPr>
          <p:spPr>
            <a:xfrm>
              <a:off x="0" y="0"/>
              <a:ext cx="431800" cy="431800"/>
            </a:xfrm>
            <a:custGeom>
              <a:avLst/>
              <a:gdLst/>
              <a:ahLst/>
              <a:cxnLst/>
              <a:rect l="l" t="t" r="r" b="b"/>
              <a:pathLst>
                <a:path w="431800" h="431800">
                  <a:moveTo>
                    <a:pt x="215900" y="0"/>
                  </a:moveTo>
                  <a:cubicBezTo>
                    <a:pt x="96647" y="0"/>
                    <a:pt x="0" y="96647"/>
                    <a:pt x="0" y="215900"/>
                  </a:cubicBezTo>
                  <a:cubicBezTo>
                    <a:pt x="0" y="335153"/>
                    <a:pt x="96647" y="431800"/>
                    <a:pt x="215900" y="431800"/>
                  </a:cubicBezTo>
                  <a:cubicBezTo>
                    <a:pt x="335153" y="431800"/>
                    <a:pt x="431800" y="335153"/>
                    <a:pt x="431800" y="215900"/>
                  </a:cubicBezTo>
                  <a:cubicBezTo>
                    <a:pt x="431800" y="96647"/>
                    <a:pt x="335153" y="0"/>
                    <a:pt x="215900" y="0"/>
                  </a:cubicBezTo>
                  <a:close/>
                </a:path>
              </a:pathLst>
            </a:custGeom>
            <a:solidFill>
              <a:srgbClr val="D1E7E9"/>
            </a:solidFill>
            <a:ln w="12700">
              <a:solidFill>
                <a:srgbClr val="000000"/>
              </a:solidFill>
            </a:ln>
          </p:spPr>
        </p:sp>
      </p:grpSp>
      <p:grpSp>
        <p:nvGrpSpPr>
          <p:cNvPr id="18" name="Group 18"/>
          <p:cNvGrpSpPr/>
          <p:nvPr/>
        </p:nvGrpSpPr>
        <p:grpSpPr>
          <a:xfrm>
            <a:off x="13611225" y="4248150"/>
            <a:ext cx="323850" cy="323850"/>
            <a:chOff x="0" y="0"/>
            <a:chExt cx="431800" cy="431800"/>
          </a:xfrm>
        </p:grpSpPr>
        <p:sp>
          <p:nvSpPr>
            <p:cNvPr id="19" name="Freeform 19"/>
            <p:cNvSpPr/>
            <p:nvPr/>
          </p:nvSpPr>
          <p:spPr>
            <a:xfrm>
              <a:off x="0" y="0"/>
              <a:ext cx="431800" cy="431800"/>
            </a:xfrm>
            <a:custGeom>
              <a:avLst/>
              <a:gdLst/>
              <a:ahLst/>
              <a:cxnLst/>
              <a:rect l="l" t="t" r="r" b="b"/>
              <a:pathLst>
                <a:path w="431800" h="431800">
                  <a:moveTo>
                    <a:pt x="215900" y="0"/>
                  </a:moveTo>
                  <a:cubicBezTo>
                    <a:pt x="96647" y="0"/>
                    <a:pt x="0" y="96647"/>
                    <a:pt x="0" y="215900"/>
                  </a:cubicBezTo>
                  <a:cubicBezTo>
                    <a:pt x="0" y="335153"/>
                    <a:pt x="96647" y="431800"/>
                    <a:pt x="215900" y="431800"/>
                  </a:cubicBezTo>
                  <a:cubicBezTo>
                    <a:pt x="335153" y="431800"/>
                    <a:pt x="431800" y="335153"/>
                    <a:pt x="431800" y="215900"/>
                  </a:cubicBezTo>
                  <a:cubicBezTo>
                    <a:pt x="431800" y="96647"/>
                    <a:pt x="335153" y="0"/>
                    <a:pt x="215900" y="0"/>
                  </a:cubicBezTo>
                  <a:close/>
                </a:path>
              </a:pathLst>
            </a:custGeom>
            <a:solidFill>
              <a:srgbClr val="D1E7E9"/>
            </a:solidFill>
            <a:ln w="12700">
              <a:solidFill>
                <a:srgbClr val="000000"/>
              </a:solidFill>
            </a:ln>
          </p:spPr>
        </p:sp>
      </p:grpSp>
      <p:sp>
        <p:nvSpPr>
          <p:cNvPr id="20" name="TextBox 20"/>
          <p:cNvSpPr txBox="1"/>
          <p:nvPr/>
        </p:nvSpPr>
        <p:spPr>
          <a:xfrm>
            <a:off x="666750" y="952500"/>
            <a:ext cx="16954500" cy="92710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Data Flow Diagram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Freeform 2"/>
          <p:cNvSpPr/>
          <p:nvPr/>
        </p:nvSpPr>
        <p:spPr>
          <a:xfrm>
            <a:off x="9296400" y="-144661"/>
            <a:ext cx="8991600" cy="3497461"/>
          </a:xfrm>
          <a:custGeom>
            <a:avLst/>
            <a:gdLst/>
            <a:ahLst/>
            <a:cxnLst/>
            <a:rect l="l" t="t" r="r" b="b"/>
            <a:pathLst>
              <a:path w="8991600" h="3497461">
                <a:moveTo>
                  <a:pt x="0" y="0"/>
                </a:moveTo>
                <a:lnTo>
                  <a:pt x="8991600" y="0"/>
                </a:lnTo>
                <a:lnTo>
                  <a:pt x="8991600" y="3497461"/>
                </a:lnTo>
                <a:lnTo>
                  <a:pt x="0" y="34974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8991600" y="0"/>
            <a:ext cx="9296400" cy="10287000"/>
            <a:chOff x="0" y="0"/>
            <a:chExt cx="12395200" cy="13716000"/>
          </a:xfrm>
        </p:grpSpPr>
        <p:sp>
          <p:nvSpPr>
            <p:cNvPr id="4" name="Freeform 4"/>
            <p:cNvSpPr/>
            <p:nvPr/>
          </p:nvSpPr>
          <p:spPr>
            <a:xfrm>
              <a:off x="0" y="0"/>
              <a:ext cx="12395200" cy="13716000"/>
            </a:xfrm>
            <a:custGeom>
              <a:avLst/>
              <a:gdLst/>
              <a:ahLst/>
              <a:cxnLst/>
              <a:rect l="l" t="t" r="r" b="b"/>
              <a:pathLst>
                <a:path w="12395200" h="13716000">
                  <a:moveTo>
                    <a:pt x="0" y="0"/>
                  </a:moveTo>
                  <a:lnTo>
                    <a:pt x="12395200" y="0"/>
                  </a:lnTo>
                  <a:lnTo>
                    <a:pt x="12395200" y="13716000"/>
                  </a:lnTo>
                  <a:lnTo>
                    <a:pt x="0" y="13716000"/>
                  </a:lnTo>
                  <a:close/>
                </a:path>
              </a:pathLst>
            </a:custGeom>
            <a:blipFill>
              <a:blip r:embed="rId4"/>
              <a:stretch>
                <a:fillRect t="-1688" b="-1688"/>
              </a:stretch>
            </a:blipFill>
          </p:spPr>
        </p:sp>
      </p:grpSp>
      <p:sp>
        <p:nvSpPr>
          <p:cNvPr id="5" name="TextBox 5"/>
          <p:cNvSpPr txBox="1"/>
          <p:nvPr/>
        </p:nvSpPr>
        <p:spPr>
          <a:xfrm>
            <a:off x="666750" y="952500"/>
            <a:ext cx="6886575" cy="193675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Login Menu Functionality</a:t>
            </a:r>
          </a:p>
        </p:txBody>
      </p:sp>
      <p:sp>
        <p:nvSpPr>
          <p:cNvPr id="6" name="TextBox 6"/>
          <p:cNvSpPr txBox="1"/>
          <p:nvPr/>
        </p:nvSpPr>
        <p:spPr>
          <a:xfrm>
            <a:off x="666750" y="6743146"/>
            <a:ext cx="6886575" cy="2203450"/>
          </a:xfrm>
          <a:prstGeom prst="rect">
            <a:avLst/>
          </a:prstGeom>
        </p:spPr>
        <p:txBody>
          <a:bodyPr lIns="0" tIns="0" rIns="0" bIns="0" rtlCol="0" anchor="t">
            <a:spAutoFit/>
          </a:bodyPr>
          <a:lstStyle/>
          <a:p>
            <a:pPr algn="l">
              <a:lnSpc>
                <a:spcPts val="3499"/>
              </a:lnSpc>
            </a:pPr>
            <a:r>
              <a:rPr lang="en-US" sz="2499" spc="-37">
                <a:solidFill>
                  <a:srgbClr val="D1E7E9"/>
                </a:solidFill>
                <a:latin typeface="Helvetica World"/>
                <a:ea typeface="Helvetica World"/>
                <a:cs typeface="Helvetica World"/>
                <a:sym typeface="Helvetica World"/>
              </a:rPr>
              <a:t>The login menu verifies credentials stored in credentials.txt, ensuring secure access. Role assignment enables differentiation between Admin, Staff, and Guest, streamlining user experiences and functionalities for each role.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grpSp>
        <p:nvGrpSpPr>
          <p:cNvPr id="2" name="Group 2"/>
          <p:cNvGrpSpPr/>
          <p:nvPr/>
        </p:nvGrpSpPr>
        <p:grpSpPr>
          <a:xfrm>
            <a:off x="3926841" y="2416937"/>
            <a:ext cx="11218578" cy="4652666"/>
            <a:chOff x="0" y="0"/>
            <a:chExt cx="14958104" cy="6203555"/>
          </a:xfrm>
        </p:grpSpPr>
        <p:sp>
          <p:nvSpPr>
            <p:cNvPr id="3" name="Freeform 3"/>
            <p:cNvSpPr/>
            <p:nvPr/>
          </p:nvSpPr>
          <p:spPr>
            <a:xfrm>
              <a:off x="0" y="0"/>
              <a:ext cx="14958061" cy="6203569"/>
            </a:xfrm>
            <a:custGeom>
              <a:avLst/>
              <a:gdLst/>
              <a:ahLst/>
              <a:cxnLst/>
              <a:rect l="l" t="t" r="r" b="b"/>
              <a:pathLst>
                <a:path w="14958061" h="6203569">
                  <a:moveTo>
                    <a:pt x="0" y="0"/>
                  </a:moveTo>
                  <a:lnTo>
                    <a:pt x="14958061" y="0"/>
                  </a:lnTo>
                  <a:lnTo>
                    <a:pt x="14958061" y="6203569"/>
                  </a:lnTo>
                  <a:lnTo>
                    <a:pt x="0" y="6203569"/>
                  </a:lnTo>
                  <a:lnTo>
                    <a:pt x="0" y="0"/>
                  </a:lnTo>
                  <a:close/>
                </a:path>
              </a:pathLst>
            </a:custGeom>
            <a:blipFill>
              <a:blip r:embed="rId2"/>
              <a:stretch>
                <a:fillRect/>
              </a:stretch>
            </a:blipFill>
          </p:spPr>
        </p:sp>
      </p:grpSp>
      <p:sp>
        <p:nvSpPr>
          <p:cNvPr id="4" name="TextBox 4"/>
          <p:cNvSpPr txBox="1"/>
          <p:nvPr/>
        </p:nvSpPr>
        <p:spPr>
          <a:xfrm>
            <a:off x="284079" y="850900"/>
            <a:ext cx="13508121" cy="92710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Admin Menu Implementation</a:t>
            </a:r>
          </a:p>
        </p:txBody>
      </p:sp>
      <p:sp>
        <p:nvSpPr>
          <p:cNvPr id="5" name="TextBox 5"/>
          <p:cNvSpPr txBox="1"/>
          <p:nvPr/>
        </p:nvSpPr>
        <p:spPr>
          <a:xfrm>
            <a:off x="1407214" y="7632339"/>
            <a:ext cx="12384986" cy="1357630"/>
          </a:xfrm>
          <a:prstGeom prst="rect">
            <a:avLst/>
          </a:prstGeom>
        </p:spPr>
        <p:txBody>
          <a:bodyPr lIns="0" tIns="0" rIns="0" bIns="0" rtlCol="0" anchor="t">
            <a:spAutoFit/>
          </a:bodyPr>
          <a:lstStyle/>
          <a:p>
            <a:pPr algn="l">
              <a:lnSpc>
                <a:spcPts val="3499"/>
              </a:lnSpc>
            </a:pPr>
            <a:r>
              <a:rPr lang="en-US" sz="2499" spc="-37">
                <a:solidFill>
                  <a:srgbClr val="D1E7E9"/>
                </a:solidFill>
                <a:latin typeface="Helvetica World"/>
                <a:ea typeface="Helvetica World"/>
                <a:cs typeface="Helvetica World"/>
                <a:sym typeface="Helvetica World"/>
              </a:rPr>
              <a:t>The Admin Menu provides </a:t>
            </a:r>
            <a:r>
              <a:rPr lang="en-US" sz="2499" b="1" spc="-37">
                <a:solidFill>
                  <a:srgbClr val="D1E7E9"/>
                </a:solidFill>
                <a:latin typeface="Helvetica World Bold"/>
                <a:ea typeface="Helvetica World Bold"/>
                <a:cs typeface="Helvetica World Bold"/>
                <a:sym typeface="Helvetica World Bold"/>
              </a:rPr>
              <a:t>full control</a:t>
            </a:r>
            <a:r>
              <a:rPr lang="en-US" sz="2499" spc="-37">
                <a:solidFill>
                  <a:srgbClr val="D1E7E9"/>
                </a:solidFill>
                <a:latin typeface="Helvetica World"/>
                <a:ea typeface="Helvetica World"/>
                <a:cs typeface="Helvetica World"/>
                <a:sym typeface="Helvetica World"/>
              </a:rPr>
              <a:t> over student records, enabling actions such as adding, displaying, searching, updating, and deleting entries. This menu operates in a persistent loop until the user logs out.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Freeform 2"/>
          <p:cNvSpPr/>
          <p:nvPr/>
        </p:nvSpPr>
        <p:spPr>
          <a:xfrm>
            <a:off x="9296400" y="-144661"/>
            <a:ext cx="8991600" cy="3497461"/>
          </a:xfrm>
          <a:custGeom>
            <a:avLst/>
            <a:gdLst/>
            <a:ahLst/>
            <a:cxnLst/>
            <a:rect l="l" t="t" r="r" b="b"/>
            <a:pathLst>
              <a:path w="8991600" h="3497461">
                <a:moveTo>
                  <a:pt x="0" y="0"/>
                </a:moveTo>
                <a:lnTo>
                  <a:pt x="8991600" y="0"/>
                </a:lnTo>
                <a:lnTo>
                  <a:pt x="8991600" y="3497461"/>
                </a:lnTo>
                <a:lnTo>
                  <a:pt x="0" y="34974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042785" y="0"/>
            <a:ext cx="12245215" cy="10287000"/>
            <a:chOff x="0" y="0"/>
            <a:chExt cx="16326953" cy="13716000"/>
          </a:xfrm>
        </p:grpSpPr>
        <p:sp>
          <p:nvSpPr>
            <p:cNvPr id="4" name="Freeform 4"/>
            <p:cNvSpPr/>
            <p:nvPr/>
          </p:nvSpPr>
          <p:spPr>
            <a:xfrm>
              <a:off x="0" y="0"/>
              <a:ext cx="16326993" cy="13716000"/>
            </a:xfrm>
            <a:custGeom>
              <a:avLst/>
              <a:gdLst/>
              <a:ahLst/>
              <a:cxnLst/>
              <a:rect l="l" t="t" r="r" b="b"/>
              <a:pathLst>
                <a:path w="16326993" h="13716000">
                  <a:moveTo>
                    <a:pt x="0" y="0"/>
                  </a:moveTo>
                  <a:lnTo>
                    <a:pt x="16326993" y="0"/>
                  </a:lnTo>
                  <a:lnTo>
                    <a:pt x="16326993" y="13716000"/>
                  </a:lnTo>
                  <a:lnTo>
                    <a:pt x="0" y="13716000"/>
                  </a:lnTo>
                  <a:close/>
                </a:path>
              </a:pathLst>
            </a:custGeom>
            <a:blipFill>
              <a:blip r:embed="rId4"/>
              <a:stretch>
                <a:fillRect l="-1550" r="-1550"/>
              </a:stretch>
            </a:blipFill>
          </p:spPr>
        </p:sp>
      </p:grpSp>
      <p:sp>
        <p:nvSpPr>
          <p:cNvPr id="5" name="TextBox 5"/>
          <p:cNvSpPr txBox="1"/>
          <p:nvPr/>
        </p:nvSpPr>
        <p:spPr>
          <a:xfrm>
            <a:off x="742831" y="760860"/>
            <a:ext cx="3701741" cy="294640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Adding Student Records</a:t>
            </a:r>
          </a:p>
        </p:txBody>
      </p:sp>
      <p:sp>
        <p:nvSpPr>
          <p:cNvPr id="6" name="TextBox 6"/>
          <p:cNvSpPr txBox="1"/>
          <p:nvPr/>
        </p:nvSpPr>
        <p:spPr>
          <a:xfrm>
            <a:off x="191672" y="6733043"/>
            <a:ext cx="5851113" cy="2203450"/>
          </a:xfrm>
          <a:prstGeom prst="rect">
            <a:avLst/>
          </a:prstGeom>
        </p:spPr>
        <p:txBody>
          <a:bodyPr lIns="0" tIns="0" rIns="0" bIns="0" rtlCol="0" anchor="t">
            <a:spAutoFit/>
          </a:bodyPr>
          <a:lstStyle/>
          <a:p>
            <a:pPr algn="l">
              <a:lnSpc>
                <a:spcPts val="3499"/>
              </a:lnSpc>
            </a:pPr>
            <a:r>
              <a:rPr lang="en-US" sz="2499" spc="-37">
                <a:solidFill>
                  <a:srgbClr val="D1E7E9"/>
                </a:solidFill>
                <a:latin typeface="Helvetica World"/>
                <a:ea typeface="Helvetica World"/>
                <a:cs typeface="Helvetica World"/>
                <a:sym typeface="Helvetica World"/>
              </a:rPr>
              <a:t>The system allows users to input essential details like roll number, name, and marks, which are then securely appended to the student.txt file for persistent storage and retrieval.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Freeform 2"/>
          <p:cNvSpPr/>
          <p:nvPr/>
        </p:nvSpPr>
        <p:spPr>
          <a:xfrm>
            <a:off x="0" y="-144661"/>
            <a:ext cx="18288000" cy="2602111"/>
          </a:xfrm>
          <a:custGeom>
            <a:avLst/>
            <a:gdLst/>
            <a:ahLst/>
            <a:cxnLst/>
            <a:rect l="l" t="t" r="r" b="b"/>
            <a:pathLst>
              <a:path w="18288000" h="2602111">
                <a:moveTo>
                  <a:pt x="0" y="0"/>
                </a:moveTo>
                <a:lnTo>
                  <a:pt x="18288000" y="0"/>
                </a:lnTo>
                <a:lnTo>
                  <a:pt x="18288000" y="2602111"/>
                </a:lnTo>
                <a:lnTo>
                  <a:pt x="0" y="260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721302" y="2457450"/>
            <a:ext cx="8422698" cy="7829550"/>
            <a:chOff x="0" y="0"/>
            <a:chExt cx="11230264" cy="10439400"/>
          </a:xfrm>
        </p:grpSpPr>
        <p:sp>
          <p:nvSpPr>
            <p:cNvPr id="4" name="Freeform 4"/>
            <p:cNvSpPr/>
            <p:nvPr/>
          </p:nvSpPr>
          <p:spPr>
            <a:xfrm>
              <a:off x="0" y="0"/>
              <a:ext cx="11230229" cy="10439400"/>
            </a:xfrm>
            <a:custGeom>
              <a:avLst/>
              <a:gdLst/>
              <a:ahLst/>
              <a:cxnLst/>
              <a:rect l="l" t="t" r="r" b="b"/>
              <a:pathLst>
                <a:path w="11230229" h="10439400">
                  <a:moveTo>
                    <a:pt x="0" y="0"/>
                  </a:moveTo>
                  <a:lnTo>
                    <a:pt x="11230229" y="0"/>
                  </a:lnTo>
                  <a:lnTo>
                    <a:pt x="11230229" y="10439400"/>
                  </a:lnTo>
                  <a:lnTo>
                    <a:pt x="0" y="10439400"/>
                  </a:lnTo>
                  <a:lnTo>
                    <a:pt x="0" y="0"/>
                  </a:lnTo>
                  <a:close/>
                </a:path>
              </a:pathLst>
            </a:custGeom>
            <a:blipFill>
              <a:blip r:embed="rId4"/>
              <a:stretch>
                <a:fillRect/>
              </a:stretch>
            </a:blipFill>
          </p:spPr>
        </p:sp>
      </p:grpSp>
      <p:grpSp>
        <p:nvGrpSpPr>
          <p:cNvPr id="5" name="Group 5"/>
          <p:cNvGrpSpPr/>
          <p:nvPr/>
        </p:nvGrpSpPr>
        <p:grpSpPr>
          <a:xfrm>
            <a:off x="10079862" y="2457450"/>
            <a:ext cx="7179438" cy="7829550"/>
            <a:chOff x="0" y="0"/>
            <a:chExt cx="9572584" cy="10439400"/>
          </a:xfrm>
        </p:grpSpPr>
        <p:sp>
          <p:nvSpPr>
            <p:cNvPr id="6" name="Freeform 6"/>
            <p:cNvSpPr/>
            <p:nvPr/>
          </p:nvSpPr>
          <p:spPr>
            <a:xfrm>
              <a:off x="0" y="0"/>
              <a:ext cx="9572625" cy="10439400"/>
            </a:xfrm>
            <a:custGeom>
              <a:avLst/>
              <a:gdLst/>
              <a:ahLst/>
              <a:cxnLst/>
              <a:rect l="l" t="t" r="r" b="b"/>
              <a:pathLst>
                <a:path w="9572625" h="10439400">
                  <a:moveTo>
                    <a:pt x="0" y="0"/>
                  </a:moveTo>
                  <a:lnTo>
                    <a:pt x="9572625" y="0"/>
                  </a:lnTo>
                  <a:lnTo>
                    <a:pt x="9572625" y="10439400"/>
                  </a:lnTo>
                  <a:lnTo>
                    <a:pt x="0" y="10439400"/>
                  </a:lnTo>
                  <a:lnTo>
                    <a:pt x="0" y="0"/>
                  </a:lnTo>
                  <a:close/>
                </a:path>
              </a:pathLst>
            </a:custGeom>
            <a:blipFill>
              <a:blip r:embed="rId5"/>
              <a:stretch>
                <a:fillRect l="-1135" r="-1135"/>
              </a:stretch>
            </a:blipFill>
          </p:spPr>
        </p:sp>
      </p:grpSp>
      <p:sp>
        <p:nvSpPr>
          <p:cNvPr id="7" name="TextBox 7"/>
          <p:cNvSpPr txBox="1"/>
          <p:nvPr/>
        </p:nvSpPr>
        <p:spPr>
          <a:xfrm>
            <a:off x="666750" y="952500"/>
            <a:ext cx="16954500" cy="927101"/>
          </a:xfrm>
          <a:prstGeom prst="rect">
            <a:avLst/>
          </a:prstGeom>
        </p:spPr>
        <p:txBody>
          <a:bodyPr lIns="0" tIns="0" rIns="0" bIns="0" rtlCol="0" anchor="t">
            <a:spAutoFit/>
          </a:bodyPr>
          <a:lstStyle/>
          <a:p>
            <a:pPr algn="l">
              <a:lnSpc>
                <a:spcPts val="8000"/>
              </a:lnSpc>
            </a:pPr>
            <a:r>
              <a:rPr lang="en-US" sz="8000" spc="-240">
                <a:solidFill>
                  <a:srgbClr val="2F4F4F"/>
                </a:solidFill>
                <a:latin typeface="Georgia Pro Condensed"/>
                <a:ea typeface="Georgia Pro Condensed"/>
                <a:cs typeface="Georgia Pro Condensed"/>
                <a:sym typeface="Georgia Pro Condensed"/>
              </a:rPr>
              <a:t>Display and Search Functions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Freeform 2"/>
          <p:cNvSpPr/>
          <p:nvPr/>
        </p:nvSpPr>
        <p:spPr>
          <a:xfrm>
            <a:off x="0" y="-144661"/>
            <a:ext cx="18288000" cy="2602111"/>
          </a:xfrm>
          <a:custGeom>
            <a:avLst/>
            <a:gdLst/>
            <a:ahLst/>
            <a:cxnLst/>
            <a:rect l="l" t="t" r="r" b="b"/>
            <a:pathLst>
              <a:path w="18288000" h="2602111">
                <a:moveTo>
                  <a:pt x="0" y="0"/>
                </a:moveTo>
                <a:lnTo>
                  <a:pt x="18288000" y="0"/>
                </a:lnTo>
                <a:lnTo>
                  <a:pt x="18288000" y="2602111"/>
                </a:lnTo>
                <a:lnTo>
                  <a:pt x="0" y="260211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347773" y="2457450"/>
            <a:ext cx="6739981" cy="7829550"/>
            <a:chOff x="0" y="0"/>
            <a:chExt cx="8986641" cy="10439400"/>
          </a:xfrm>
        </p:grpSpPr>
        <p:sp>
          <p:nvSpPr>
            <p:cNvPr id="4" name="Freeform 4"/>
            <p:cNvSpPr/>
            <p:nvPr/>
          </p:nvSpPr>
          <p:spPr>
            <a:xfrm>
              <a:off x="0" y="0"/>
              <a:ext cx="8986647" cy="10439400"/>
            </a:xfrm>
            <a:custGeom>
              <a:avLst/>
              <a:gdLst/>
              <a:ahLst/>
              <a:cxnLst/>
              <a:rect l="l" t="t" r="r" b="b"/>
              <a:pathLst>
                <a:path w="8986647" h="10439400">
                  <a:moveTo>
                    <a:pt x="0" y="0"/>
                  </a:moveTo>
                  <a:lnTo>
                    <a:pt x="8986647" y="0"/>
                  </a:lnTo>
                  <a:lnTo>
                    <a:pt x="8986647" y="10439400"/>
                  </a:lnTo>
                  <a:lnTo>
                    <a:pt x="0" y="10439400"/>
                  </a:lnTo>
                  <a:lnTo>
                    <a:pt x="0" y="0"/>
                  </a:lnTo>
                  <a:close/>
                </a:path>
              </a:pathLst>
            </a:custGeom>
            <a:blipFill>
              <a:blip r:embed="rId4"/>
              <a:stretch>
                <a:fillRect l="-500" r="-500"/>
              </a:stretch>
            </a:blipFill>
          </p:spPr>
        </p:sp>
      </p:grpSp>
      <p:grpSp>
        <p:nvGrpSpPr>
          <p:cNvPr id="5" name="Group 5"/>
          <p:cNvGrpSpPr/>
          <p:nvPr/>
        </p:nvGrpSpPr>
        <p:grpSpPr>
          <a:xfrm>
            <a:off x="9556033" y="2457450"/>
            <a:ext cx="7703267" cy="7829550"/>
            <a:chOff x="0" y="0"/>
            <a:chExt cx="10271023" cy="10439400"/>
          </a:xfrm>
        </p:grpSpPr>
        <p:sp>
          <p:nvSpPr>
            <p:cNvPr id="6" name="Freeform 6"/>
            <p:cNvSpPr/>
            <p:nvPr/>
          </p:nvSpPr>
          <p:spPr>
            <a:xfrm>
              <a:off x="0" y="0"/>
              <a:ext cx="10270998" cy="10439400"/>
            </a:xfrm>
            <a:custGeom>
              <a:avLst/>
              <a:gdLst/>
              <a:ahLst/>
              <a:cxnLst/>
              <a:rect l="l" t="t" r="r" b="b"/>
              <a:pathLst>
                <a:path w="10270998" h="10439400">
                  <a:moveTo>
                    <a:pt x="0" y="0"/>
                  </a:moveTo>
                  <a:lnTo>
                    <a:pt x="10270998" y="0"/>
                  </a:lnTo>
                  <a:lnTo>
                    <a:pt x="10270998" y="10439400"/>
                  </a:lnTo>
                  <a:lnTo>
                    <a:pt x="0" y="10439400"/>
                  </a:lnTo>
                  <a:lnTo>
                    <a:pt x="0" y="0"/>
                  </a:lnTo>
                  <a:close/>
                </a:path>
              </a:pathLst>
            </a:custGeom>
            <a:blipFill>
              <a:blip r:embed="rId5"/>
              <a:stretch>
                <a:fillRect/>
              </a:stretch>
            </a:blipFill>
          </p:spPr>
        </p:sp>
      </p:grpSp>
      <p:sp>
        <p:nvSpPr>
          <p:cNvPr id="7" name="TextBox 7"/>
          <p:cNvSpPr txBox="1"/>
          <p:nvPr/>
        </p:nvSpPr>
        <p:spPr>
          <a:xfrm>
            <a:off x="666750" y="952500"/>
            <a:ext cx="16954500" cy="927101"/>
          </a:xfrm>
          <a:prstGeom prst="rect">
            <a:avLst/>
          </a:prstGeom>
        </p:spPr>
        <p:txBody>
          <a:bodyPr lIns="0" tIns="0" rIns="0" bIns="0" rtlCol="0" anchor="t">
            <a:spAutoFit/>
          </a:bodyPr>
          <a:lstStyle/>
          <a:p>
            <a:pPr algn="l">
              <a:lnSpc>
                <a:spcPts val="8000"/>
              </a:lnSpc>
            </a:pPr>
            <a:r>
              <a:rPr lang="en-US" sz="8000" spc="-240">
                <a:solidFill>
                  <a:srgbClr val="2F4F4F"/>
                </a:solidFill>
                <a:latin typeface="Georgia Pro Condensed"/>
                <a:ea typeface="Georgia Pro Condensed"/>
                <a:cs typeface="Georgia Pro Condensed"/>
                <a:sym typeface="Georgia Pro Condensed"/>
              </a:rPr>
              <a:t>Update and Delete Functions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8" name="TextBox 8"/>
          <p:cNvSpPr txBox="1"/>
          <p:nvPr/>
        </p:nvSpPr>
        <p:spPr>
          <a:xfrm>
            <a:off x="194039" y="975010"/>
            <a:ext cx="4140350" cy="294640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Code and Outputs Overview</a:t>
            </a:r>
          </a:p>
        </p:txBody>
      </p:sp>
      <p:sp>
        <p:nvSpPr>
          <p:cNvPr id="9" name="TextBox 9"/>
          <p:cNvSpPr txBox="1"/>
          <p:nvPr/>
        </p:nvSpPr>
        <p:spPr>
          <a:xfrm>
            <a:off x="194039" y="6382773"/>
            <a:ext cx="4838161" cy="3079750"/>
          </a:xfrm>
          <a:prstGeom prst="rect">
            <a:avLst/>
          </a:prstGeom>
        </p:spPr>
        <p:txBody>
          <a:bodyPr lIns="0" tIns="0" rIns="0" bIns="0" rtlCol="0" anchor="t">
            <a:spAutoFit/>
          </a:bodyPr>
          <a:lstStyle/>
          <a:p>
            <a:pPr algn="l">
              <a:lnSpc>
                <a:spcPts val="3499"/>
              </a:lnSpc>
            </a:pPr>
            <a:r>
              <a:rPr lang="en-US" sz="2499" spc="-37">
                <a:solidFill>
                  <a:srgbClr val="D1E7E9"/>
                </a:solidFill>
                <a:latin typeface="Helvetica World"/>
                <a:ea typeface="Helvetica World"/>
                <a:cs typeface="Helvetica World"/>
                <a:sym typeface="Helvetica World"/>
              </a:rPr>
              <a:t>This section illustrates the file structures of student.txt and credentials.txt, showcasing how data is organized and stored, ensuring efficient access and retrieval for the student management system's operations.</a:t>
            </a:r>
          </a:p>
        </p:txBody>
      </p:sp>
      <p:pic>
        <p:nvPicPr>
          <p:cNvPr id="11" name="Picture 10">
            <a:extLst>
              <a:ext uri="{FF2B5EF4-FFF2-40B4-BE49-F238E27FC236}">
                <a16:creationId xmlns:a16="http://schemas.microsoft.com/office/drawing/2014/main" id="{B1EB9C79-FA67-5FCB-FDA3-C86675C75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200" y="7620"/>
            <a:ext cx="2658164" cy="10287000"/>
          </a:xfrm>
          <a:prstGeom prst="rect">
            <a:avLst/>
          </a:prstGeom>
        </p:spPr>
      </p:pic>
      <p:pic>
        <p:nvPicPr>
          <p:cNvPr id="13" name="Picture 12">
            <a:extLst>
              <a:ext uri="{FF2B5EF4-FFF2-40B4-BE49-F238E27FC236}">
                <a16:creationId xmlns:a16="http://schemas.microsoft.com/office/drawing/2014/main" id="{5A0CF2A1-4E12-DC96-C467-382D02228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7718" y="7620"/>
            <a:ext cx="3124200" cy="10287000"/>
          </a:xfrm>
          <a:prstGeom prst="rect">
            <a:avLst/>
          </a:prstGeom>
        </p:spPr>
      </p:pic>
      <p:pic>
        <p:nvPicPr>
          <p:cNvPr id="15" name="Picture 14">
            <a:extLst>
              <a:ext uri="{FF2B5EF4-FFF2-40B4-BE49-F238E27FC236}">
                <a16:creationId xmlns:a16="http://schemas.microsoft.com/office/drawing/2014/main" id="{A83CAD1E-ACFD-B470-DEC4-F40EE1D74B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87066" y="495300"/>
            <a:ext cx="6937375" cy="8763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sp>
        <p:nvSpPr>
          <p:cNvPr id="2" name="Freeform 2"/>
          <p:cNvSpPr/>
          <p:nvPr/>
        </p:nvSpPr>
        <p:spPr>
          <a:xfrm>
            <a:off x="9296400" y="-144661"/>
            <a:ext cx="8991600" cy="3497461"/>
          </a:xfrm>
          <a:custGeom>
            <a:avLst/>
            <a:gdLst/>
            <a:ahLst/>
            <a:cxnLst/>
            <a:rect l="l" t="t" r="r" b="b"/>
            <a:pathLst>
              <a:path w="8991600" h="3497461">
                <a:moveTo>
                  <a:pt x="0" y="0"/>
                </a:moveTo>
                <a:lnTo>
                  <a:pt x="8991600" y="0"/>
                </a:lnTo>
                <a:lnTo>
                  <a:pt x="8991600" y="3497461"/>
                </a:lnTo>
                <a:lnTo>
                  <a:pt x="0" y="349746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8991600" y="0"/>
            <a:ext cx="9296400" cy="10287000"/>
            <a:chOff x="0" y="0"/>
            <a:chExt cx="12395200" cy="13716000"/>
          </a:xfrm>
        </p:grpSpPr>
        <p:sp>
          <p:nvSpPr>
            <p:cNvPr id="4" name="Freeform 4"/>
            <p:cNvSpPr/>
            <p:nvPr/>
          </p:nvSpPr>
          <p:spPr>
            <a:xfrm>
              <a:off x="0" y="0"/>
              <a:ext cx="12395200" cy="13716000"/>
            </a:xfrm>
            <a:custGeom>
              <a:avLst/>
              <a:gdLst/>
              <a:ahLst/>
              <a:cxnLst/>
              <a:rect l="l" t="t" r="r" b="b"/>
              <a:pathLst>
                <a:path w="12395200" h="13716000">
                  <a:moveTo>
                    <a:pt x="0" y="0"/>
                  </a:moveTo>
                  <a:lnTo>
                    <a:pt x="12395200" y="0"/>
                  </a:lnTo>
                  <a:lnTo>
                    <a:pt x="12395200" y="13716000"/>
                  </a:lnTo>
                  <a:lnTo>
                    <a:pt x="0" y="13716000"/>
                  </a:lnTo>
                  <a:close/>
                </a:path>
              </a:pathLst>
            </a:custGeom>
            <a:blipFill>
              <a:blip r:embed="rId4"/>
              <a:stretch>
                <a:fillRect t="-46" b="-46"/>
              </a:stretch>
            </a:blipFill>
          </p:spPr>
        </p:sp>
      </p:grpSp>
      <p:sp>
        <p:nvSpPr>
          <p:cNvPr id="5" name="TextBox 5"/>
          <p:cNvSpPr txBox="1"/>
          <p:nvPr/>
        </p:nvSpPr>
        <p:spPr>
          <a:xfrm>
            <a:off x="666750" y="952500"/>
            <a:ext cx="6886575" cy="2946401"/>
          </a:xfrm>
          <a:prstGeom prst="rect">
            <a:avLst/>
          </a:prstGeom>
        </p:spPr>
        <p:txBody>
          <a:bodyPr lIns="0" tIns="0" rIns="0" bIns="0" rtlCol="0" anchor="t">
            <a:spAutoFit/>
          </a:bodyPr>
          <a:lstStyle/>
          <a:p>
            <a:pPr algn="l">
              <a:lnSpc>
                <a:spcPts val="8000"/>
              </a:lnSpc>
            </a:pPr>
            <a:r>
              <a:rPr lang="en-US" sz="8000">
                <a:solidFill>
                  <a:srgbClr val="D1E7E9"/>
                </a:solidFill>
                <a:latin typeface="Georgia Pro Condensed"/>
                <a:ea typeface="Georgia Pro Condensed"/>
                <a:cs typeface="Georgia Pro Condensed"/>
                <a:sym typeface="Georgia Pro Condensed"/>
              </a:rPr>
              <a:t>Conclusion and Future Directions</a:t>
            </a:r>
          </a:p>
        </p:txBody>
      </p:sp>
      <p:sp>
        <p:nvSpPr>
          <p:cNvPr id="6" name="TextBox 6"/>
          <p:cNvSpPr txBox="1"/>
          <p:nvPr/>
        </p:nvSpPr>
        <p:spPr>
          <a:xfrm>
            <a:off x="666750" y="4373283"/>
            <a:ext cx="6886575" cy="4455160"/>
          </a:xfrm>
          <a:prstGeom prst="rect">
            <a:avLst/>
          </a:prstGeom>
        </p:spPr>
        <p:txBody>
          <a:bodyPr lIns="0" tIns="0" rIns="0" bIns="0" rtlCol="0" anchor="t">
            <a:spAutoFit/>
          </a:bodyPr>
          <a:lstStyle/>
          <a:p>
            <a:pPr algn="l">
              <a:lnSpc>
                <a:spcPts val="3499"/>
              </a:lnSpc>
            </a:pPr>
            <a:r>
              <a:rPr lang="en-US" sz="2499" spc="-37">
                <a:solidFill>
                  <a:srgbClr val="D1E7E9"/>
                </a:solidFill>
                <a:latin typeface="Helvetica World"/>
                <a:ea typeface="Helvetica World"/>
                <a:cs typeface="Helvetica World"/>
                <a:sym typeface="Helvetica World"/>
              </a:rPr>
              <a:t>The SRMS represents a </a:t>
            </a:r>
            <a:r>
              <a:rPr lang="en-US" sz="2499" b="1" spc="-37">
                <a:solidFill>
                  <a:srgbClr val="D1E7E9"/>
                </a:solidFill>
                <a:latin typeface="Helvetica World Bold"/>
                <a:ea typeface="Helvetica World Bold"/>
                <a:cs typeface="Helvetica World Bold"/>
                <a:sym typeface="Helvetica World Bold"/>
              </a:rPr>
              <a:t>secure, modular, and efficient</a:t>
            </a:r>
            <a:r>
              <a:rPr lang="en-US" sz="2499" spc="-37">
                <a:solidFill>
                  <a:srgbClr val="D1E7E9"/>
                </a:solidFill>
                <a:latin typeface="Helvetica World"/>
                <a:ea typeface="Helvetica World"/>
                <a:cs typeface="Helvetica World"/>
                <a:sym typeface="Helvetica World"/>
              </a:rPr>
              <a:t> approach to student record management, illustrating core C programming concepts. Future enhancements may include database integration and GUI development for improved usability.</a:t>
            </a:r>
          </a:p>
          <a:p>
            <a:pPr algn="l">
              <a:lnSpc>
                <a:spcPts val="3499"/>
              </a:lnSpc>
            </a:pPr>
            <a:endParaRPr lang="en-US" sz="2499" spc="-37">
              <a:solidFill>
                <a:srgbClr val="D1E7E9"/>
              </a:solidFill>
              <a:latin typeface="Helvetica World"/>
              <a:ea typeface="Helvetica World"/>
              <a:cs typeface="Helvetica World"/>
              <a:sym typeface="Helvetica World"/>
            </a:endParaRPr>
          </a:p>
          <a:p>
            <a:pPr algn="l">
              <a:lnSpc>
                <a:spcPts val="3499"/>
              </a:lnSpc>
            </a:pPr>
            <a:r>
              <a:rPr lang="en-US" sz="2499" spc="-37">
                <a:solidFill>
                  <a:srgbClr val="D1E7E9"/>
                </a:solidFill>
                <a:latin typeface="Helvetica World"/>
                <a:ea typeface="Helvetica World"/>
                <a:cs typeface="Helvetica World"/>
                <a:sym typeface="Helvetica World"/>
              </a:rPr>
              <a:t>We extend our sincere gratitude to SRM University-AP and the faculty for their invaluable guidance. Tools utilized include a C compiler and a text editor to develop the project effectively.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00934"/>
        </a:solidFill>
        <a:effectLst/>
      </p:bgPr>
    </p:bg>
    <p:spTree>
      <p:nvGrpSpPr>
        <p:cNvPr id="1" name=""/>
        <p:cNvGrpSpPr/>
        <p:nvPr/>
      </p:nvGrpSpPr>
      <p:grpSpPr>
        <a:xfrm>
          <a:off x="0" y="0"/>
          <a:ext cx="0" cy="0"/>
          <a:chOff x="0" y="0"/>
          <a:chExt cx="0" cy="0"/>
        </a:xfrm>
      </p:grpSpPr>
      <p:grpSp>
        <p:nvGrpSpPr>
          <p:cNvPr id="2" name="Group 2"/>
          <p:cNvGrpSpPr/>
          <p:nvPr/>
        </p:nvGrpSpPr>
        <p:grpSpPr>
          <a:xfrm>
            <a:off x="-48352" y="-48352"/>
            <a:ext cx="7954830" cy="10383705"/>
            <a:chOff x="0" y="0"/>
            <a:chExt cx="10606440" cy="13844940"/>
          </a:xfrm>
        </p:grpSpPr>
        <p:sp>
          <p:nvSpPr>
            <p:cNvPr id="3" name="Freeform 3"/>
            <p:cNvSpPr/>
            <p:nvPr/>
          </p:nvSpPr>
          <p:spPr>
            <a:xfrm>
              <a:off x="8509" y="8509"/>
              <a:ext cx="10477500" cy="13716001"/>
            </a:xfrm>
            <a:custGeom>
              <a:avLst/>
              <a:gdLst/>
              <a:ahLst/>
              <a:cxnLst/>
              <a:rect l="l" t="t" r="r" b="b"/>
              <a:pathLst>
                <a:path w="10477500" h="13716001">
                  <a:moveTo>
                    <a:pt x="0" y="0"/>
                  </a:moveTo>
                  <a:lnTo>
                    <a:pt x="10477500" y="0"/>
                  </a:lnTo>
                  <a:lnTo>
                    <a:pt x="10477500" y="13716001"/>
                  </a:lnTo>
                  <a:lnTo>
                    <a:pt x="0" y="13716001"/>
                  </a:lnTo>
                  <a:close/>
                </a:path>
              </a:pathLst>
            </a:custGeom>
            <a:solidFill>
              <a:srgbClr val="D1E7E9"/>
            </a:solidFill>
            <a:ln w="12700">
              <a:solidFill>
                <a:srgbClr val="000000"/>
              </a:solidFill>
            </a:ln>
          </p:spPr>
        </p:sp>
        <p:sp>
          <p:nvSpPr>
            <p:cNvPr id="4" name="Freeform 4"/>
            <p:cNvSpPr/>
            <p:nvPr/>
          </p:nvSpPr>
          <p:spPr>
            <a:xfrm>
              <a:off x="0" y="0"/>
              <a:ext cx="10494518" cy="13733018"/>
            </a:xfrm>
            <a:custGeom>
              <a:avLst/>
              <a:gdLst/>
              <a:ahLst/>
              <a:cxnLst/>
              <a:rect l="l" t="t" r="r" b="b"/>
              <a:pathLst>
                <a:path w="10494518" h="13733018">
                  <a:moveTo>
                    <a:pt x="8509" y="0"/>
                  </a:moveTo>
                  <a:lnTo>
                    <a:pt x="10486009" y="0"/>
                  </a:lnTo>
                  <a:cubicBezTo>
                    <a:pt x="10490708" y="0"/>
                    <a:pt x="10494518" y="3810"/>
                    <a:pt x="10494518" y="8509"/>
                  </a:cubicBezTo>
                  <a:lnTo>
                    <a:pt x="10494518" y="13724510"/>
                  </a:lnTo>
                  <a:cubicBezTo>
                    <a:pt x="10494518" y="13729208"/>
                    <a:pt x="10490708" y="13733018"/>
                    <a:pt x="10486009" y="13733018"/>
                  </a:cubicBezTo>
                  <a:lnTo>
                    <a:pt x="8509" y="13733018"/>
                  </a:lnTo>
                  <a:cubicBezTo>
                    <a:pt x="3810" y="13733018"/>
                    <a:pt x="0" y="13729208"/>
                    <a:pt x="0" y="13724510"/>
                  </a:cubicBezTo>
                  <a:lnTo>
                    <a:pt x="0" y="8509"/>
                  </a:lnTo>
                  <a:cubicBezTo>
                    <a:pt x="0" y="3810"/>
                    <a:pt x="3810" y="0"/>
                    <a:pt x="8509" y="0"/>
                  </a:cubicBezTo>
                  <a:moveTo>
                    <a:pt x="8509" y="16891"/>
                  </a:moveTo>
                  <a:lnTo>
                    <a:pt x="8509" y="8509"/>
                  </a:lnTo>
                  <a:lnTo>
                    <a:pt x="17018" y="8509"/>
                  </a:lnTo>
                  <a:lnTo>
                    <a:pt x="17018" y="13724510"/>
                  </a:lnTo>
                  <a:lnTo>
                    <a:pt x="8509" y="13724510"/>
                  </a:lnTo>
                  <a:lnTo>
                    <a:pt x="8509" y="13716000"/>
                  </a:lnTo>
                  <a:lnTo>
                    <a:pt x="10486009" y="13716000"/>
                  </a:lnTo>
                  <a:lnTo>
                    <a:pt x="10486009" y="13724510"/>
                  </a:lnTo>
                  <a:lnTo>
                    <a:pt x="10477500" y="13724510"/>
                  </a:lnTo>
                  <a:lnTo>
                    <a:pt x="10477500" y="8509"/>
                  </a:lnTo>
                  <a:lnTo>
                    <a:pt x="10486009" y="8509"/>
                  </a:lnTo>
                  <a:lnTo>
                    <a:pt x="10486009" y="17018"/>
                  </a:lnTo>
                  <a:lnTo>
                    <a:pt x="8509" y="17018"/>
                  </a:lnTo>
                  <a:close/>
                </a:path>
              </a:pathLst>
            </a:custGeom>
            <a:solidFill>
              <a:srgbClr val="000000"/>
            </a:solidFill>
            <a:ln w="12700">
              <a:solidFill>
                <a:srgbClr val="000000"/>
              </a:solidFill>
            </a:ln>
          </p:spPr>
        </p:sp>
      </p:grpSp>
      <p:grpSp>
        <p:nvGrpSpPr>
          <p:cNvPr id="5" name="Group 5"/>
          <p:cNvGrpSpPr/>
          <p:nvPr/>
        </p:nvGrpSpPr>
        <p:grpSpPr>
          <a:xfrm>
            <a:off x="1052512" y="666750"/>
            <a:ext cx="5753100" cy="8953500"/>
            <a:chOff x="0" y="0"/>
            <a:chExt cx="7670800" cy="11938000"/>
          </a:xfrm>
        </p:grpSpPr>
        <p:sp>
          <p:nvSpPr>
            <p:cNvPr id="6" name="Freeform 6"/>
            <p:cNvSpPr/>
            <p:nvPr/>
          </p:nvSpPr>
          <p:spPr>
            <a:xfrm>
              <a:off x="0" y="0"/>
              <a:ext cx="7670800" cy="11938000"/>
            </a:xfrm>
            <a:custGeom>
              <a:avLst/>
              <a:gdLst/>
              <a:ahLst/>
              <a:cxnLst/>
              <a:rect l="l" t="t" r="r" b="b"/>
              <a:pathLst>
                <a:path w="7670800" h="11938000">
                  <a:moveTo>
                    <a:pt x="253365" y="0"/>
                  </a:moveTo>
                  <a:lnTo>
                    <a:pt x="7417435" y="0"/>
                  </a:lnTo>
                  <a:cubicBezTo>
                    <a:pt x="7557389" y="0"/>
                    <a:pt x="7670800" y="113411"/>
                    <a:pt x="7670800" y="253365"/>
                  </a:cubicBezTo>
                  <a:lnTo>
                    <a:pt x="7670800" y="11684635"/>
                  </a:lnTo>
                  <a:cubicBezTo>
                    <a:pt x="7670800" y="11824589"/>
                    <a:pt x="7557389" y="11938000"/>
                    <a:pt x="7417435" y="11938000"/>
                  </a:cubicBezTo>
                  <a:lnTo>
                    <a:pt x="253365" y="11938000"/>
                  </a:lnTo>
                  <a:cubicBezTo>
                    <a:pt x="113411" y="11938000"/>
                    <a:pt x="0" y="11824589"/>
                    <a:pt x="0" y="11684635"/>
                  </a:cubicBezTo>
                  <a:lnTo>
                    <a:pt x="0" y="253365"/>
                  </a:lnTo>
                  <a:cubicBezTo>
                    <a:pt x="0" y="113411"/>
                    <a:pt x="113411" y="0"/>
                    <a:pt x="253365" y="0"/>
                  </a:cubicBezTo>
                  <a:close/>
                </a:path>
              </a:pathLst>
            </a:custGeom>
            <a:blipFill>
              <a:blip r:embed="rId2"/>
              <a:stretch>
                <a:fillRect t="-199" b="-199"/>
              </a:stretch>
            </a:blipFill>
          </p:spPr>
        </p:sp>
      </p:grpSp>
      <p:sp>
        <p:nvSpPr>
          <p:cNvPr id="7" name="TextBox 7"/>
          <p:cNvSpPr txBox="1"/>
          <p:nvPr/>
        </p:nvSpPr>
        <p:spPr>
          <a:xfrm>
            <a:off x="9551369" y="8896668"/>
            <a:ext cx="8324850" cy="647065"/>
          </a:xfrm>
          <a:prstGeom prst="rect">
            <a:avLst/>
          </a:prstGeom>
        </p:spPr>
        <p:txBody>
          <a:bodyPr lIns="0" tIns="0" rIns="0" bIns="0" rtlCol="0" anchor="t">
            <a:spAutoFit/>
          </a:bodyPr>
          <a:lstStyle/>
          <a:p>
            <a:pPr algn="l">
              <a:lnSpc>
                <a:spcPts val="4939"/>
              </a:lnSpc>
            </a:pPr>
            <a:r>
              <a:rPr lang="en-US" sz="3800" spc="-56">
                <a:solidFill>
                  <a:srgbClr val="D1E7E9"/>
                </a:solidFill>
                <a:latin typeface="Helvetica World"/>
                <a:ea typeface="Helvetica World"/>
                <a:cs typeface="Helvetica World"/>
                <a:sym typeface="Helvetica World"/>
              </a:rPr>
              <a:t>Questions and Discussion Welcome</a:t>
            </a:r>
          </a:p>
        </p:txBody>
      </p:sp>
      <p:sp>
        <p:nvSpPr>
          <p:cNvPr id="8" name="TextBox 8"/>
          <p:cNvSpPr txBox="1"/>
          <p:nvPr/>
        </p:nvSpPr>
        <p:spPr>
          <a:xfrm>
            <a:off x="9303759" y="1219200"/>
            <a:ext cx="8317491" cy="1722909"/>
          </a:xfrm>
          <a:prstGeom prst="rect">
            <a:avLst/>
          </a:prstGeom>
        </p:spPr>
        <p:txBody>
          <a:bodyPr lIns="0" tIns="0" rIns="0" bIns="0" rtlCol="0" anchor="t">
            <a:spAutoFit/>
          </a:bodyPr>
          <a:lstStyle/>
          <a:p>
            <a:pPr algn="l">
              <a:lnSpc>
                <a:spcPts val="14955"/>
              </a:lnSpc>
            </a:pPr>
            <a:r>
              <a:rPr lang="en-US" sz="14956" spc="-523">
                <a:solidFill>
                  <a:srgbClr val="D1E7E9"/>
                </a:solidFill>
                <a:latin typeface="Georgia Pro Condensed"/>
                <a:ea typeface="Georgia Pro Condensed"/>
                <a:cs typeface="Georgia Pro Condensed"/>
                <a:sym typeface="Georgia Pro Condensed"/>
              </a:rPr>
              <a:t>Thank You</a:t>
            </a:r>
          </a:p>
        </p:txBody>
      </p:sp>
      <p:sp>
        <p:nvSpPr>
          <p:cNvPr id="9" name="Freeform 9"/>
          <p:cNvSpPr/>
          <p:nvPr/>
        </p:nvSpPr>
        <p:spPr>
          <a:xfrm rot="-3117037">
            <a:off x="5418783" y="7952721"/>
            <a:ext cx="2112604" cy="1859092"/>
          </a:xfrm>
          <a:custGeom>
            <a:avLst/>
            <a:gdLst/>
            <a:ahLst/>
            <a:cxnLst/>
            <a:rect l="l" t="t" r="r" b="b"/>
            <a:pathLst>
              <a:path w="2112604" h="1859092">
                <a:moveTo>
                  <a:pt x="0" y="0"/>
                </a:moveTo>
                <a:lnTo>
                  <a:pt x="2112604" y="0"/>
                </a:lnTo>
                <a:lnTo>
                  <a:pt x="2112604" y="1859092"/>
                </a:lnTo>
                <a:lnTo>
                  <a:pt x="0" y="1859092"/>
                </a:lnTo>
                <a:lnTo>
                  <a:pt x="0" y="0"/>
                </a:lnTo>
                <a:close/>
              </a:path>
            </a:pathLst>
          </a:custGeom>
          <a:blipFill>
            <a:blip r:embed="rId3">
              <a:extLst>
                <a:ext uri="{96DAC541-7B7A-43D3-8B79-37D633B846F1}">
                  <asvg:svgBlip xmlns:asvg="http://schemas.microsoft.com/office/drawing/2016/SVG/main" r:embed="rId4"/>
                </a:ext>
              </a:extLst>
            </a:blip>
            <a:stretch>
              <a:fillRect t="-163" b="-163"/>
            </a:stretch>
          </a:blipFill>
        </p:spPr>
      </p:sp>
      <p:sp>
        <p:nvSpPr>
          <p:cNvPr id="10" name="TextBox 10"/>
          <p:cNvSpPr txBox="1"/>
          <p:nvPr/>
        </p:nvSpPr>
        <p:spPr>
          <a:xfrm>
            <a:off x="9144000" y="3616501"/>
            <a:ext cx="7691892" cy="4162450"/>
          </a:xfrm>
          <a:prstGeom prst="rect">
            <a:avLst/>
          </a:prstGeom>
        </p:spPr>
        <p:txBody>
          <a:bodyPr lIns="0" tIns="0" rIns="0" bIns="0" rtlCol="0" anchor="t">
            <a:spAutoFit/>
          </a:bodyPr>
          <a:lstStyle/>
          <a:p>
            <a:pPr algn="ctr">
              <a:lnSpc>
                <a:spcPts val="4488"/>
              </a:lnSpc>
            </a:pPr>
            <a:r>
              <a:rPr lang="en-US" sz="3739" spc="-55">
                <a:solidFill>
                  <a:srgbClr val="D1E7E9"/>
                </a:solidFill>
                <a:latin typeface="Archivo Black"/>
                <a:ea typeface="Archivo Black"/>
                <a:cs typeface="Archivo Black"/>
                <a:sym typeface="Archivo Black"/>
              </a:rPr>
              <a:t>Presented by</a:t>
            </a:r>
          </a:p>
          <a:p>
            <a:pPr algn="ctr">
              <a:lnSpc>
                <a:spcPts val="4488"/>
              </a:lnSpc>
            </a:pPr>
            <a:endParaRPr lang="en-US" sz="3739" spc="-55">
              <a:solidFill>
                <a:srgbClr val="D1E7E9"/>
              </a:solidFill>
              <a:latin typeface="Archivo Black"/>
              <a:ea typeface="Archivo Black"/>
              <a:cs typeface="Archivo Black"/>
              <a:sym typeface="Archivo Black"/>
            </a:endParaRPr>
          </a:p>
          <a:p>
            <a:pPr algn="just">
              <a:lnSpc>
                <a:spcPts val="3740"/>
              </a:lnSpc>
            </a:pPr>
            <a:r>
              <a:rPr lang="en-US" sz="3117" b="1" spc="-46">
                <a:solidFill>
                  <a:srgbClr val="D1E7E9"/>
                </a:solidFill>
                <a:latin typeface="Helvetica World Bold"/>
                <a:ea typeface="Helvetica World Bold"/>
                <a:cs typeface="Helvetica World Bold"/>
                <a:sym typeface="Helvetica World Bold"/>
              </a:rPr>
              <a:t>P.SRIVEDA                         AP24110011270</a:t>
            </a:r>
          </a:p>
          <a:p>
            <a:pPr algn="just">
              <a:lnSpc>
                <a:spcPts val="3740"/>
              </a:lnSpc>
            </a:pPr>
            <a:r>
              <a:rPr lang="en-US" sz="3117" b="1" spc="-46">
                <a:solidFill>
                  <a:srgbClr val="D1E7E9"/>
                </a:solidFill>
                <a:latin typeface="Helvetica World Bold"/>
                <a:ea typeface="Helvetica World Bold"/>
                <a:cs typeface="Helvetica World Bold"/>
                <a:sym typeface="Helvetica World Bold"/>
              </a:rPr>
              <a:t>N.YOSHITHA                       AP24110011292</a:t>
            </a:r>
          </a:p>
          <a:p>
            <a:pPr algn="just">
              <a:lnSpc>
                <a:spcPts val="3740"/>
              </a:lnSpc>
            </a:pPr>
            <a:r>
              <a:rPr lang="en-US" sz="3117" b="1" spc="-46">
                <a:solidFill>
                  <a:srgbClr val="D1E7E9"/>
                </a:solidFill>
                <a:latin typeface="Helvetica World Bold"/>
                <a:ea typeface="Helvetica World Bold"/>
                <a:cs typeface="Helvetica World Bold"/>
                <a:sym typeface="Helvetica World Bold"/>
              </a:rPr>
              <a:t>SK.TAKHREEM                  AP24110011299</a:t>
            </a:r>
          </a:p>
          <a:p>
            <a:pPr algn="just">
              <a:lnSpc>
                <a:spcPts val="3740"/>
              </a:lnSpc>
            </a:pPr>
            <a:r>
              <a:rPr lang="en-US" sz="3117" b="1" spc="-46">
                <a:solidFill>
                  <a:srgbClr val="D1E7E9"/>
                </a:solidFill>
                <a:latin typeface="Helvetica World Bold"/>
                <a:ea typeface="Helvetica World Bold"/>
                <a:cs typeface="Helvetica World Bold"/>
                <a:sym typeface="Helvetica World Bold"/>
              </a:rPr>
              <a:t>M.SUMANVITHA                AP24110011366</a:t>
            </a:r>
          </a:p>
          <a:p>
            <a:pPr algn="just">
              <a:lnSpc>
                <a:spcPts val="3740"/>
              </a:lnSpc>
            </a:pPr>
            <a:r>
              <a:rPr lang="en-US" sz="3117" b="1" spc="-46">
                <a:solidFill>
                  <a:srgbClr val="D1E7E9"/>
                </a:solidFill>
                <a:latin typeface="Helvetica World Bold"/>
                <a:ea typeface="Helvetica World Bold"/>
                <a:cs typeface="Helvetica World Bold"/>
                <a:sym typeface="Helvetica World Bold"/>
              </a:rPr>
              <a:t>P.KOUSHIKA                      AP24110011375</a:t>
            </a:r>
          </a:p>
          <a:p>
            <a:pPr algn="l">
              <a:lnSpc>
                <a:spcPts val="3740"/>
              </a:lnSpc>
            </a:pPr>
            <a:endParaRPr lang="en-US" sz="3117" b="1" spc="-46">
              <a:solidFill>
                <a:srgbClr val="D1E7E9"/>
              </a:solidFill>
              <a:latin typeface="Helvetica World Bold"/>
              <a:ea typeface="Helvetica World Bold"/>
              <a:cs typeface="Helvetica World Bold"/>
              <a:sym typeface="Helvetica World Bo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828</Words>
  <Application>Microsoft Office PowerPoint</Application>
  <PresentationFormat>Custom</PresentationFormat>
  <Paragraphs>56</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Georgia Pro Condensed</vt:lpstr>
      <vt:lpstr>Arial</vt:lpstr>
      <vt:lpstr>Helvetica World</vt:lpstr>
      <vt:lpstr>Helvetica World Bold</vt:lpstr>
      <vt:lpstr>Archivo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SRMS YOSH.pptx</dc:title>
  <dc:creator>K RAJU</dc:creator>
  <cp:lastModifiedBy>keerthanachowdary028@outlook.com</cp:lastModifiedBy>
  <cp:revision>2</cp:revision>
  <dcterms:created xsi:type="dcterms:W3CDTF">2006-08-16T00:00:00Z</dcterms:created>
  <dcterms:modified xsi:type="dcterms:W3CDTF">2025-12-07T08:37:03Z</dcterms:modified>
  <dc:identifier>DAG60CBfMa0</dc:identifier>
</cp:coreProperties>
</file>